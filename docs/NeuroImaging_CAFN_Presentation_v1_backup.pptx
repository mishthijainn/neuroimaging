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1560185-4540-5ac6-387d-8924ab32e565}">
          <p14:sldIdLst>
            <p14:sldId id="256"/>
          </p14:sldIdLst>
        </p14:section>
        <p14:section name="Introduction" id="{2915ea13-07fe-d116-26c8-5e7407c5c8f9}">
          <p14:sldIdLst>
            <p14:sldId id="257"/>
            <p14:sldId id="258"/>
            <p14:sldId id="259"/>
          </p14:sldIdLst>
        </p14:section>
        <p14:section name="Method" id="{38ac9e0b-34d0-54dd-e9ea-7705a95611dd}">
          <p14:sldIdLst>
            <p14:sldId id="260"/>
            <p14:sldId id="261"/>
            <p14:sldId id="262"/>
            <p14:sldId id="263"/>
            <p14:sldId id="264"/>
            <p14:sldId id="265"/>
            <p14:sldId id="266"/>
          </p14:sldIdLst>
        </p14:section>
        <p14:section name="Evaluation" id="{6eeeecb4-8085-cd89-991b-e99c07675493}">
          <p14:sldIdLst>
            <p14:sldId id="267"/>
            <p14:sldId id="268"/>
            <p14:sldId id="269"/>
            <p14:sldId id="270"/>
            <p14:sldId id="271"/>
            <p14:sldId id="272"/>
          </p14:sldIdLst>
        </p14:section>
        <p14:section name="Discussion" id="{e663f3d6-03d8-a5ac-b417-6ad2890785d8}">
          <p14:sldIdLst>
            <p14:sldId id="273"/>
            <p14:sldId id="274"/>
            <p14:sldId id="275"/>
          </p14:sldIdLst>
        </p14:section>
        <p14:section name="Backup" id="{57da819f-29a3-e799-f683-6c76bab0a9c1}">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the NeuroImaging project: CAFN, a cross-attention fusion network that combines a 3D structural MRI volume with a 1D visual evoked potential to classify three conditions, healthy, glaucoma and optic neuritis or cortical visual impairment. The picture on the right is the whole idea in one frame: the MRI becomes 64 spatial tokens, the VEP becomes 16 temporal tokens, and the network lets the spatial tokens ask the temporal tokens what is relevant to them. One important framing point up front: there is no public paired MRI plus VEP dataset with diagnosis labels, so the project is developed and verified on synthetic data and I make no diagnostic accuracy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Disorders of the visual pathway, such as glaucoma, optic neuritis and cortical visual impairment, can be seen in two ways. Structural MRI tells us where: atrophy, lesions, regional change, but it carries no timing information. The visual evoked potential tells us when: P100 latency and amplitude reflect conduction along the pathway, but it has no spatial localisation. Glaucoma alone was estimated at about 64.3 million people in 2013, so a tool that uses both signals is worth exploring. The question this project asks is whether a network can let each spatial token query the temporal tokens, which is exactly what cross-attention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obstacles. First, most pipelines analyse either imaging or electrophysiology, not both. Second, a volume and a waveform differ in dimensionality, sampling and noise, so naive concatenation gives every feature the same standing. Third, black-box classifiers are hard to trust clinically. Fourth, there is no public dataset with paired MRI, VEP and diagnosis. CAFN answers the first three with an architecture, and the fourth with a synthetic data generator that exposes the same NIfTI and CSV interface as real data, so the complete path from files to an optimiser step can be tested before a cohort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target classes are healthy control, glaucoma, and optic neuritis or cortical visual impairment. In the synthetic generator each class has a signature in both modalities. The VEP is a sum of N75, P100 and N145 Gaussians, with P100 at 100, 108 and 140 milliseconds respectively. In the MRI, glaucoma gets an atrophy proxy, an octant block scaled down to 0.4, and optic neuritis gets a lesion proxy scaled up to 1.8. To be clear, these are generator settings that follow the clinical pattern, in particular delayed P100 in optic neuritis; they are not patient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end-to-end data flow. The MRI goes through preprocessing and a 3D residual CNN, giving 64 spatial tokens of dimension 128. The VEP goes through conditioning and a 1D CNN, giving 16 temporal tokens. The cross-attention fusion module takes the spatial tokens as queries and the temporal tokens as keys and values. There are three heads: the fused head is the primary output, and two auxiliary heads, one per modality, give each encoder its own gradient. The purple Grad-CAM and attention outputs are inspection aids, not part of the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modalities are brought to fixed shapes before the network. The MRI is loaded with NiBabel, reoriented to RAS, resampled to 1 millimetre isotropic, foreground-masked, scaled to zero-one and padded or cropped to 64 cubed. The VEP is validated, band-passed one to a hundred hertz, notch filtered at fifty hertz, resampled to 500 samples and z-scored. One caveat that I will come back to: the foreground mask uses the 60th percentile of positive voxels. It is a placeholder for proper skull-stripping.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P100 latency is the clinically meaningful quantity, so the conditioning chain is designed not to move it. Filtering forward and backward, with sosfiltfilt and filtfilt, cancels phase and squares the magnitude. In this effective response the 50 hertz component is down by about 97 decibels, the minus 6 decibel notch band runs from 49.18 to 50.83 hertz, and the response at 1 hertz is minus 5.8 decibels. On 150 synthetic records the fitted 50 hertz amplitude fell from 0.152 to 0.0125, about 22 decibels. That measured number is limited by the noise floor, which is 0.0212 at 47 hertz, where nothing was injected, so it is a lower bound on the notch's attenuation rather than the ideal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network has 1,055,081 trainable parameters. The 3D residual CNN is the bulk, 883,472 parameters or 83.7 percent: a stem convolution and three residual blocks going from 16 to 128 channels, then adaptive pooling to 4 by 4 by 4, which gives the 64 spatial tokens. The 1D CNN has only about 38 thousand parameters and produces 16 temporal tokens. The cross-attention fusion module, with 4 heads, a residual connection, LayerNorm and a feed-forward block, adds 132 thousand. The three linear heads together are about 1,100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CAFN. The spatial tokens X sub s are projected to queries, the temporal tokens X sub t are projected to keys and values. With 4 heads of dimension 32, the attention tensor is batch by 4 by 64 by 16: for every spatial token, a distribution over the 16 temporal tokens. The weighted sum of values is concatenated, projected, added back to the spatial tokens with a residual connection and LayerNorm, then passed through a small feed-forward block. The output keeps the spatial layout, 64 tokens of dimension 128, now enriched with temporal context. The attention tensor is also returned so that it can be plotted as a heatmap.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uses three cross-entropy losses: one on the fused head, and one on each unimodal head. The total is the fused loss plus 0.3 times the sum of the two auxiliary losses. The auxiliary terms give each encoder its own gradient and discourage the fused head from relying on one modality only. The configuration is Adam with learning rate 1e-3 and weight decay 1e-4, batch size 8, 20 epochs, a seeded 80/20 train and validation split. I want to be upfront that PyTorch was not available in the environment where this report and deck were prepared, so no training run was executed and no training curves are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explainability outputs are built in. 3D Grad-CAM hooks the last residual block, back-propagates the fused logit, takes the mean gradient per channel as weights, applies a ReLU, and upsamples to 64 cubed. The attention heatmap averages the attention tensor over batch and heads to a 64 by 16 matrix of spatial token against temporal token. I deliberately call these inspection aids. The literature on attention and saliency is clear that these maps are not automatically faithful explanations, so they should be sanity-checked before anyone reads clinical meaning into them. That sanity checking is planned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labelled paired data are unavailable, a seeded generator writes class-conditioned MRI volumes and VEP records through the same NIfTI and CSV interface as real data. On the left, the MRI volume is Gaussian noise around 100, with an atrophy block for glaucoma and a lesion block for optic neuritis. On the right, the VEP is three Gaussians plus baseline drift, 50 hertz mains and noise: exactly the artefacts the conditioning chain is meant to remove. This lets us verify the machinery end to end, but it cannot tell us anything about diagnostic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150 synthetic VEP records, 50 per class, the zero-phase pipeline recovered P100 within one sample period, 4 milliseconds at 250 hertz, in 149 of 150 trials. The largest error was 8 milliseconds in a single glaucoma trial, and the class means differ from the truth by 0.64, 0.00 and 0.80 milliseconds. The table shows raw, zero-phase and single-pass detections side by side, and the histograms show that the three classes stay separated in latency, which is the property the conditioning chain has to preserve.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deliberately honest slide. A single-pass causal filter has group delay, 6.1, 3.1 and 2.8 milliseconds at 10, 20 and 30 hertz, so in principle it shifts the P100 peak. But on this smooth, low-frequency synthetic P100, the detected class means differ by less than half a millisecond, which is below one sample. So the benefit of zero-phase filtering cannot be demonstrated on these data. The case for it rests on the principle that latency is the clinical quantity; a real gain would need a higher sampling rate or a recorded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cost: 1,055,081 parameters and about 2.53 billion multiply-accumulates per sample, counted analytically from the layer definitions. The 3D spatial encoder dominates the parameters, but what matters for speed is the compute: the first residual block alone accounts for 54 percent of the MACs and the first two for 82 percent. The fusion module holds about 12.6 percent of the parameters but well under 1 percent of the compute. So if training time ever becomes an issue, the early 3D stages are where to look, not the 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verification: the repository contains 86 test functions in 12 files, 78 unit and 8 integration, with 95.1 percent statement coverage, 521 of 548 statements, and 8 of 12 modules fully covered. The lowest is the training script at 75.3 percent, mostly its command-line entry point. The tests assert shapes, value ranges, normalisation of attention rows, determinism, input validation and an end-to-end gradient flow. Please note these counts come from the repository's recorded data. The tests were not re-executed in this environment because PyTorch was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design observations came out of the synthetic experiments. First, the placeholder foreground mask is not neutral: by construction it zeroes 60 percent of voxels, and in the glaucoma volume it removes the entire atrophy block, 0 percent retained, while 99.7 percent of the optic neuritis lesion block survives. So conclusions about what the spatial encoder can learn depend on the preprocessing, and validated skull-stripping is needed. Second, with 16 temporal tokens over 2 seconds, each token is nominally 125 milliseconds, so the 100 and 108 millisecond P100 peaks land in the same token. The tokens are learned features, not calibrated time bins. Third, compute concentrates in the early 3D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evidence honestly. What is verified: the conditioning chain preserves P100 latency on synthetic VEPs, mains interference is attenuated, the complexity figures are computed, and the code base has a recorded 95.1 percent statement coverage. What is not shown: any learning result. No training was run, so there are no learning curves, no accuracy, sensitivity or AUC. Nothing here says anything about real patients. There are no unimodal or concatenation baselines and no ablations, so the added value of cross-attention is untested. The contribution of this project is a tested, configuration-driven foundation for evaluation on a labelled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steps are about evidence, not architecture. One: with a labelled, paired cohort, train with patient-level splits and report sensitivity, specificity, AUC and calibration. Two: add unimodal and concatenation baselines and ablate the auxiliary loss and token counts, so we can say whether cross-attention actually helps. Three: replace the percentile mask with validated skull-stripping. Four: sanity-check Grad-CAM and the attention maps against clinician-marked regions. Five: move toward anatomically grounded tokens aligned with the VEP landmarks N75, P100 and N135.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CAFN brings a 3D MRI and a 1D VEP into a common token space, fuses them with cross-attention, and keeps P100 latency intact through zero-phase conditioning. On synthetic data, P100 was recovered within one sample in 149 of 150 trials, mains interference fell by 22 decibels, the model has about 1.06 million parameters and 2.53 billion MACs per sample, and an 86-test suite covers 95.1 percent of statements. No diagnostic accuracy is claimed. What this project provides is a tested foundation, and the next step is a labelled paired cohort with baselines. Thank you, I am happy to take questions. The code is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The full list of 34 references is in the paper and in the project report. Entries were written from known publication details and should be spot-checked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chemeClr val="tx2"/>
                </a:solidFill>
              </a:rPr>
              <a:t>CAFN · Cross-attention fusion of 3D MRI and VEP · Mishthi Jain</a:t>
            </a:r>
            <a:endParaRPr lang="en-US" sz="1000" dirty="0"/>
          </a:p>
        </p:txBody>
      </p:sp>
      <p:sp>
        <p:nvSpPr>
          <p:cNvPr id="3" name="Text 1"/>
          <p:cNvSpPr/>
          <p:nvPr>
            <p:ph idx="101" type="title" hasCustomPrompt="1"/>
          </p:nvPr>
        </p:nvSpPr>
        <p:spPr>
          <a:xfrm>
            <a:off x="548640" y="320040"/>
            <a:ext cx="11094415" cy="86868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chemeClr val="bg2"/>
                </a:solidFill>
              </a:rPr>
              <a:t>CAFN · Cross-attention fusion of 3D MRI and VEP · Mishthi Jain</a:t>
            </a:r>
            <a:endParaRPr lang="en-US" sz="1000" dirty="0"/>
          </a:p>
        </p:txBody>
      </p:sp>
      <p:sp>
        <p:nvSpPr>
          <p:cNvPr id="3" name="Text 1"/>
          <p:cNvSpPr/>
          <p:nvPr>
            <p:ph idx="101" type="title" hasCustomPrompt="1"/>
          </p:nvPr>
        </p:nvSpPr>
        <p:spPr>
          <a:xfrm>
            <a:off x="548640" y="320040"/>
            <a:ext cx="11094415" cy="86868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675120" cy="21488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675120" cy="21488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Cross-Attention Fusion of 3D MRI and Visual Evoked Potentials</a:t>
            </a:r>
            <a:endParaRPr lang="en-US" sz="4000" dirty="0"/>
          </a:p>
        </p:txBody>
      </p:sp>
      <p:sp>
        <p:nvSpPr>
          <p:cNvPr id="3" name="Text 1"/>
          <p:cNvSpPr txBox="1"/>
          <p:nvPr/>
        </p:nvSpPr>
        <p:spPr>
          <a:xfrm>
            <a:off x="640080" y="3657600"/>
            <a:ext cx="6309360" cy="82296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Detecting and classifying vision defects: design and verification on synthetic data</a:t>
            </a:r>
            <a:endParaRPr lang="en-US" sz="2000" dirty="0"/>
          </a:p>
        </p:txBody>
      </p:sp>
      <p:sp>
        <p:nvSpPr>
          <p:cNvPr id="4" name="Text 2"/>
          <p:cNvSpPr txBox="1"/>
          <p:nvPr/>
        </p:nvSpPr>
        <p:spPr>
          <a:xfrm>
            <a:off x="640080" y="4754880"/>
            <a:ext cx="6309360" cy="365760"/>
          </a:xfrm>
          <a:prstGeom prst="rect">
            <a:avLst/>
          </a:prstGeom>
          <a:noFill/>
          <a:ln/>
        </p:spPr>
        <p:txBody>
          <a:bodyPr wrap="square" lIns="0" tIns="0" rIns="0" bIns="0" rtlCol="0" anchor="t"/>
          <a:lstStyle/>
          <a:p>
            <a:pPr indent="0" marL="0">
              <a:buNone/>
            </a:pPr>
            <a:r>
              <a:rPr lang="en-US" sz="2000" b="1" dirty="0">
                <a:solidFill>
                  <a:schemeClr val="bg1"/>
                </a:solidFill>
                <a:latin typeface="Calibri" pitchFamily="34" charset="0"/>
                <a:ea typeface="Calibri" pitchFamily="34" charset="-122"/>
                <a:cs typeface="Calibri" pitchFamily="34" charset="-120"/>
              </a:rPr>
              <a:t>Mishthi Jain</a:t>
            </a:r>
            <a:endParaRPr lang="en-US" sz="2000" dirty="0"/>
          </a:p>
        </p:txBody>
      </p:sp>
      <p:sp>
        <p:nvSpPr>
          <p:cNvPr id="5" name="Text 3"/>
          <p:cNvSpPr txBox="1"/>
          <p:nvPr/>
        </p:nvSpPr>
        <p:spPr>
          <a:xfrm>
            <a:off x="640080" y="5138928"/>
            <a:ext cx="658368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School of Computer Science and Engineering, VIT Chennai · BCSE497J project</a:t>
            </a:r>
            <a:endParaRPr lang="en-US" sz="1400" dirty="0"/>
          </a:p>
        </p:txBody>
      </p:sp>
      <p:sp>
        <p:nvSpPr>
          <p:cNvPr id="6" name="Text 4"/>
          <p:cNvSpPr txBox="1"/>
          <p:nvPr/>
        </p:nvSpPr>
        <p:spPr>
          <a:xfrm>
            <a:off x="640080" y="5504688"/>
            <a:ext cx="667512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Reg. No. </a:t>
            </a:r>
            <a:pPr indent="0" marL="0">
              <a:buNone/>
            </a:pPr>
            <a:r>
              <a:rPr lang="en-US" sz="1400" dirty="0">
                <a:solidFill>
                  <a:schemeClr val="tx1"/>
                </a:solidFill>
                <a:highlight>
                  <a:srgbClr val="FFFF00"/>
                </a:highlight>
                <a:latin typeface="Calibri" pitchFamily="34" charset="0"/>
                <a:ea typeface="Calibri" pitchFamily="34" charset="-122"/>
                <a:cs typeface="Calibri" pitchFamily="34" charset="-120"/>
              </a:rPr>
              <a:t>[register number]</a:t>
            </a:r>
            <a:pPr indent="0" marL="0">
              <a:buNone/>
            </a:pPr>
            <a:r>
              <a:rPr lang="en-US" sz="1400" dirty="0">
                <a:solidFill>
                  <a:schemeClr val="bg2"/>
                </a:solidFill>
                <a:latin typeface="Calibri" pitchFamily="34" charset="0"/>
                <a:ea typeface="Calibri" pitchFamily="34" charset="-122"/>
                <a:cs typeface="Calibri" pitchFamily="34" charset="-120"/>
              </a:rPr>
              <a:t>   Guide: </a:t>
            </a:r>
            <a:pPr indent="0" marL="0">
              <a:buNone/>
            </a:pPr>
            <a:r>
              <a:rPr lang="en-US" sz="1400" dirty="0">
                <a:solidFill>
                  <a:schemeClr val="tx1"/>
                </a:solidFill>
                <a:highlight>
                  <a:srgbClr val="FFFF00"/>
                </a:highlight>
                <a:latin typeface="Calibri" pitchFamily="34" charset="0"/>
                <a:ea typeface="Calibri" pitchFamily="34" charset="-122"/>
                <a:cs typeface="Calibri" pitchFamily="34" charset="-120"/>
              </a:rPr>
              <a:t>[guide name, designation]</a:t>
            </a:r>
            <a:endParaRPr lang="en-US" sz="1400" dirty="0"/>
          </a:p>
        </p:txBody>
      </p:sp>
      <p:sp>
        <p:nvSpPr>
          <p:cNvPr id="7" name="spatial token 0-0"/>
          <p:cNvSpPr/>
          <p:nvPr/>
        </p:nvSpPr>
        <p:spPr>
          <a:xfrm>
            <a:off x="7818120" y="1325880"/>
            <a:ext cx="365760" cy="365760"/>
          </a:xfrm>
          <a:prstGeom prst="roundRect">
            <a:avLst>
              <a:gd name="adj" fmla="val 12500"/>
            </a:avLst>
          </a:prstGeom>
          <a:solidFill>
            <a:schemeClr val="accent3">
              <a:alpha val="37000"/>
            </a:schemeClr>
          </a:solidFill>
          <a:ln/>
        </p:spPr>
      </p:sp>
      <p:sp>
        <p:nvSpPr>
          <p:cNvPr id="8" name="spatial token 0-1"/>
          <p:cNvSpPr/>
          <p:nvPr/>
        </p:nvSpPr>
        <p:spPr>
          <a:xfrm>
            <a:off x="8257032" y="1325880"/>
            <a:ext cx="365760" cy="365760"/>
          </a:xfrm>
          <a:prstGeom prst="roundRect">
            <a:avLst>
              <a:gd name="adj" fmla="val 12500"/>
            </a:avLst>
          </a:prstGeom>
          <a:solidFill>
            <a:schemeClr val="accent3">
              <a:alpha val="44000"/>
            </a:schemeClr>
          </a:solidFill>
          <a:ln/>
        </p:spPr>
      </p:sp>
      <p:sp>
        <p:nvSpPr>
          <p:cNvPr id="9" name="spatial token 0-2"/>
          <p:cNvSpPr/>
          <p:nvPr/>
        </p:nvSpPr>
        <p:spPr>
          <a:xfrm>
            <a:off x="8695944" y="1325880"/>
            <a:ext cx="365760" cy="365760"/>
          </a:xfrm>
          <a:prstGeom prst="roundRect">
            <a:avLst>
              <a:gd name="adj" fmla="val 12500"/>
            </a:avLst>
          </a:prstGeom>
          <a:solidFill>
            <a:schemeClr val="accent3">
              <a:alpha val="51000"/>
            </a:schemeClr>
          </a:solidFill>
          <a:ln/>
        </p:spPr>
      </p:sp>
      <p:sp>
        <p:nvSpPr>
          <p:cNvPr id="10" name="spatial token 0-3"/>
          <p:cNvSpPr/>
          <p:nvPr/>
        </p:nvSpPr>
        <p:spPr>
          <a:xfrm>
            <a:off x="9134856" y="1325880"/>
            <a:ext cx="365760" cy="365760"/>
          </a:xfrm>
          <a:prstGeom prst="roundRect">
            <a:avLst>
              <a:gd name="adj" fmla="val 12500"/>
            </a:avLst>
          </a:prstGeom>
          <a:solidFill>
            <a:schemeClr val="accent3">
              <a:alpha val="55000"/>
            </a:schemeClr>
          </a:solidFill>
          <a:ln/>
        </p:spPr>
      </p:sp>
      <p:sp>
        <p:nvSpPr>
          <p:cNvPr id="11" name="spatial token 0-4"/>
          <p:cNvSpPr/>
          <p:nvPr/>
        </p:nvSpPr>
        <p:spPr>
          <a:xfrm>
            <a:off x="9573768" y="1325880"/>
            <a:ext cx="365760" cy="365760"/>
          </a:xfrm>
          <a:prstGeom prst="roundRect">
            <a:avLst>
              <a:gd name="adj" fmla="val 12500"/>
            </a:avLst>
          </a:prstGeom>
          <a:solidFill>
            <a:schemeClr val="accent3">
              <a:alpha val="57000"/>
            </a:schemeClr>
          </a:solidFill>
          <a:ln/>
        </p:spPr>
      </p:sp>
      <p:sp>
        <p:nvSpPr>
          <p:cNvPr id="12" name="spatial token 0-5"/>
          <p:cNvSpPr/>
          <p:nvPr/>
        </p:nvSpPr>
        <p:spPr>
          <a:xfrm>
            <a:off x="10012680" y="1325880"/>
            <a:ext cx="365760" cy="365760"/>
          </a:xfrm>
          <a:prstGeom prst="roundRect">
            <a:avLst>
              <a:gd name="adj" fmla="val 12500"/>
            </a:avLst>
          </a:prstGeom>
          <a:solidFill>
            <a:schemeClr val="accent3">
              <a:alpha val="55000"/>
            </a:schemeClr>
          </a:solidFill>
          <a:ln/>
        </p:spPr>
      </p:sp>
      <p:sp>
        <p:nvSpPr>
          <p:cNvPr id="13" name="spatial token 0-6"/>
          <p:cNvSpPr/>
          <p:nvPr/>
        </p:nvSpPr>
        <p:spPr>
          <a:xfrm>
            <a:off x="10451592" y="1325880"/>
            <a:ext cx="365760" cy="365760"/>
          </a:xfrm>
          <a:prstGeom prst="roundRect">
            <a:avLst>
              <a:gd name="adj" fmla="val 12500"/>
            </a:avLst>
          </a:prstGeom>
          <a:solidFill>
            <a:schemeClr val="accent3">
              <a:alpha val="50000"/>
            </a:schemeClr>
          </a:solidFill>
          <a:ln/>
        </p:spPr>
      </p:sp>
      <p:sp>
        <p:nvSpPr>
          <p:cNvPr id="14" name="spatial token 0-7"/>
          <p:cNvSpPr/>
          <p:nvPr/>
        </p:nvSpPr>
        <p:spPr>
          <a:xfrm>
            <a:off x="10890504" y="1325880"/>
            <a:ext cx="365760" cy="365760"/>
          </a:xfrm>
          <a:prstGeom prst="roundRect">
            <a:avLst>
              <a:gd name="adj" fmla="val 12500"/>
            </a:avLst>
          </a:prstGeom>
          <a:solidFill>
            <a:schemeClr val="accent3">
              <a:alpha val="43000"/>
            </a:schemeClr>
          </a:solidFill>
          <a:ln/>
        </p:spPr>
      </p:sp>
      <p:sp>
        <p:nvSpPr>
          <p:cNvPr id="15" name="spatial token 1-0"/>
          <p:cNvSpPr/>
          <p:nvPr/>
        </p:nvSpPr>
        <p:spPr>
          <a:xfrm>
            <a:off x="7818120" y="1764792"/>
            <a:ext cx="365760" cy="365760"/>
          </a:xfrm>
          <a:prstGeom prst="roundRect">
            <a:avLst>
              <a:gd name="adj" fmla="val 12500"/>
            </a:avLst>
          </a:prstGeom>
          <a:solidFill>
            <a:schemeClr val="accent3">
              <a:alpha val="43000"/>
            </a:schemeClr>
          </a:solidFill>
          <a:ln/>
        </p:spPr>
      </p:sp>
      <p:sp>
        <p:nvSpPr>
          <p:cNvPr id="16" name="spatial token 1-1"/>
          <p:cNvSpPr/>
          <p:nvPr/>
        </p:nvSpPr>
        <p:spPr>
          <a:xfrm>
            <a:off x="8257032" y="1764792"/>
            <a:ext cx="365760" cy="365760"/>
          </a:xfrm>
          <a:prstGeom prst="roundRect">
            <a:avLst>
              <a:gd name="adj" fmla="val 12500"/>
            </a:avLst>
          </a:prstGeom>
          <a:solidFill>
            <a:schemeClr val="accent3">
              <a:alpha val="52000"/>
            </a:schemeClr>
          </a:solidFill>
          <a:ln/>
        </p:spPr>
      </p:sp>
      <p:sp>
        <p:nvSpPr>
          <p:cNvPr id="17" name="spatial token 1-2"/>
          <p:cNvSpPr/>
          <p:nvPr/>
        </p:nvSpPr>
        <p:spPr>
          <a:xfrm>
            <a:off x="8695944" y="1764792"/>
            <a:ext cx="365760" cy="365760"/>
          </a:xfrm>
          <a:prstGeom prst="roundRect">
            <a:avLst>
              <a:gd name="adj" fmla="val 12500"/>
            </a:avLst>
          </a:prstGeom>
          <a:solidFill>
            <a:schemeClr val="accent3">
              <a:alpha val="60000"/>
            </a:schemeClr>
          </a:solidFill>
          <a:ln/>
        </p:spPr>
      </p:sp>
      <p:sp>
        <p:nvSpPr>
          <p:cNvPr id="18" name="spatial token 1-3"/>
          <p:cNvSpPr/>
          <p:nvPr/>
        </p:nvSpPr>
        <p:spPr>
          <a:xfrm>
            <a:off x="9134856" y="1764792"/>
            <a:ext cx="365760" cy="365760"/>
          </a:xfrm>
          <a:prstGeom prst="roundRect">
            <a:avLst>
              <a:gd name="adj" fmla="val 12500"/>
            </a:avLst>
          </a:prstGeom>
          <a:solidFill>
            <a:schemeClr val="accent3">
              <a:alpha val="66000"/>
            </a:schemeClr>
          </a:solidFill>
          <a:ln/>
        </p:spPr>
      </p:sp>
      <p:sp>
        <p:nvSpPr>
          <p:cNvPr id="19" name="spatial token 1-4"/>
          <p:cNvSpPr/>
          <p:nvPr/>
        </p:nvSpPr>
        <p:spPr>
          <a:xfrm>
            <a:off x="9573768" y="1764792"/>
            <a:ext cx="365760" cy="365760"/>
          </a:xfrm>
          <a:prstGeom prst="roundRect">
            <a:avLst>
              <a:gd name="adj" fmla="val 12500"/>
            </a:avLst>
          </a:prstGeom>
          <a:solidFill>
            <a:schemeClr val="accent3">
              <a:alpha val="68000"/>
            </a:schemeClr>
          </a:solidFill>
          <a:ln/>
        </p:spPr>
      </p:sp>
      <p:sp>
        <p:nvSpPr>
          <p:cNvPr id="20" name="spatial token 1-5"/>
          <p:cNvSpPr/>
          <p:nvPr/>
        </p:nvSpPr>
        <p:spPr>
          <a:xfrm>
            <a:off x="10012680" y="1764792"/>
            <a:ext cx="365760" cy="365760"/>
          </a:xfrm>
          <a:prstGeom prst="roundRect">
            <a:avLst>
              <a:gd name="adj" fmla="val 12500"/>
            </a:avLst>
          </a:prstGeom>
          <a:solidFill>
            <a:schemeClr val="accent3">
              <a:alpha val="65000"/>
            </a:schemeClr>
          </a:solidFill>
          <a:ln/>
        </p:spPr>
      </p:sp>
      <p:sp>
        <p:nvSpPr>
          <p:cNvPr id="21" name="spatial token 1-6"/>
          <p:cNvSpPr/>
          <p:nvPr/>
        </p:nvSpPr>
        <p:spPr>
          <a:xfrm>
            <a:off x="10451592" y="1764792"/>
            <a:ext cx="365760" cy="365760"/>
          </a:xfrm>
          <a:prstGeom prst="roundRect">
            <a:avLst>
              <a:gd name="adj" fmla="val 12500"/>
            </a:avLst>
          </a:prstGeom>
          <a:solidFill>
            <a:schemeClr val="accent3">
              <a:alpha val="59000"/>
            </a:schemeClr>
          </a:solidFill>
          <a:ln/>
        </p:spPr>
      </p:sp>
      <p:sp>
        <p:nvSpPr>
          <p:cNvPr id="22" name="spatial token 1-7"/>
          <p:cNvSpPr/>
          <p:nvPr/>
        </p:nvSpPr>
        <p:spPr>
          <a:xfrm>
            <a:off x="10890504" y="1764792"/>
            <a:ext cx="365760" cy="365760"/>
          </a:xfrm>
          <a:prstGeom prst="roundRect">
            <a:avLst>
              <a:gd name="adj" fmla="val 12500"/>
            </a:avLst>
          </a:prstGeom>
          <a:solidFill>
            <a:schemeClr val="accent3">
              <a:alpha val="50000"/>
            </a:schemeClr>
          </a:solidFill>
          <a:ln/>
        </p:spPr>
      </p:sp>
      <p:sp>
        <p:nvSpPr>
          <p:cNvPr id="23" name="spatial token 2-0"/>
          <p:cNvSpPr/>
          <p:nvPr/>
        </p:nvSpPr>
        <p:spPr>
          <a:xfrm>
            <a:off x="7818120" y="2203704"/>
            <a:ext cx="365760" cy="365760"/>
          </a:xfrm>
          <a:prstGeom prst="roundRect">
            <a:avLst>
              <a:gd name="adj" fmla="val 12500"/>
            </a:avLst>
          </a:prstGeom>
          <a:solidFill>
            <a:schemeClr val="accent3">
              <a:alpha val="47000"/>
            </a:schemeClr>
          </a:solidFill>
          <a:ln/>
        </p:spPr>
      </p:sp>
      <p:sp>
        <p:nvSpPr>
          <p:cNvPr id="24" name="spatial token 2-1"/>
          <p:cNvSpPr/>
          <p:nvPr/>
        </p:nvSpPr>
        <p:spPr>
          <a:xfrm>
            <a:off x="8257032" y="2203704"/>
            <a:ext cx="365760" cy="365760"/>
          </a:xfrm>
          <a:prstGeom prst="roundRect">
            <a:avLst>
              <a:gd name="adj" fmla="val 12500"/>
            </a:avLst>
          </a:prstGeom>
          <a:solidFill>
            <a:schemeClr val="accent3">
              <a:alpha val="57000"/>
            </a:schemeClr>
          </a:solidFill>
          <a:ln/>
        </p:spPr>
      </p:sp>
      <p:sp>
        <p:nvSpPr>
          <p:cNvPr id="25" name="spatial token 2-2"/>
          <p:cNvSpPr/>
          <p:nvPr/>
        </p:nvSpPr>
        <p:spPr>
          <a:xfrm>
            <a:off x="8695944" y="2203704"/>
            <a:ext cx="365760" cy="365760"/>
          </a:xfrm>
          <a:prstGeom prst="roundRect">
            <a:avLst>
              <a:gd name="adj" fmla="val 12500"/>
            </a:avLst>
          </a:prstGeom>
          <a:solidFill>
            <a:schemeClr val="accent3">
              <a:alpha val="67000"/>
            </a:schemeClr>
          </a:solidFill>
          <a:ln/>
        </p:spPr>
      </p:sp>
      <p:sp>
        <p:nvSpPr>
          <p:cNvPr id="26" name="spatial token 2-3"/>
          <p:cNvSpPr/>
          <p:nvPr/>
        </p:nvSpPr>
        <p:spPr>
          <a:xfrm>
            <a:off x="9134856" y="2203704"/>
            <a:ext cx="365760" cy="365760"/>
          </a:xfrm>
          <a:prstGeom prst="roundRect">
            <a:avLst>
              <a:gd name="adj" fmla="val 12500"/>
            </a:avLst>
          </a:prstGeom>
          <a:solidFill>
            <a:schemeClr val="accent3">
              <a:alpha val="75000"/>
            </a:schemeClr>
          </a:solidFill>
          <a:ln/>
        </p:spPr>
      </p:sp>
      <p:sp>
        <p:nvSpPr>
          <p:cNvPr id="27" name="spatial token 2-4"/>
          <p:cNvSpPr/>
          <p:nvPr/>
        </p:nvSpPr>
        <p:spPr>
          <a:xfrm>
            <a:off x="9573768" y="2203704"/>
            <a:ext cx="365760" cy="365760"/>
          </a:xfrm>
          <a:prstGeom prst="roundRect">
            <a:avLst>
              <a:gd name="adj" fmla="val 12500"/>
            </a:avLst>
          </a:prstGeom>
          <a:solidFill>
            <a:schemeClr val="accent3">
              <a:alpha val="79000"/>
            </a:schemeClr>
          </a:solidFill>
          <a:ln/>
        </p:spPr>
      </p:sp>
      <p:sp>
        <p:nvSpPr>
          <p:cNvPr id="28" name="spatial token 2-5"/>
          <p:cNvSpPr/>
          <p:nvPr/>
        </p:nvSpPr>
        <p:spPr>
          <a:xfrm>
            <a:off x="10012680" y="2203704"/>
            <a:ext cx="365760" cy="365760"/>
          </a:xfrm>
          <a:prstGeom prst="roundRect">
            <a:avLst>
              <a:gd name="adj" fmla="val 12500"/>
            </a:avLst>
          </a:prstGeom>
          <a:solidFill>
            <a:schemeClr val="accent3">
              <a:alpha val="74000"/>
            </a:schemeClr>
          </a:solidFill>
          <a:ln/>
        </p:spPr>
      </p:sp>
      <p:sp>
        <p:nvSpPr>
          <p:cNvPr id="29" name="spatial token 2-6"/>
          <p:cNvSpPr/>
          <p:nvPr/>
        </p:nvSpPr>
        <p:spPr>
          <a:xfrm>
            <a:off x="10451592" y="2203704"/>
            <a:ext cx="365760" cy="365760"/>
          </a:xfrm>
          <a:prstGeom prst="roundRect">
            <a:avLst>
              <a:gd name="adj" fmla="val 12500"/>
            </a:avLst>
          </a:prstGeom>
          <a:solidFill>
            <a:schemeClr val="accent3">
              <a:alpha val="65000"/>
            </a:schemeClr>
          </a:solidFill>
          <a:ln/>
        </p:spPr>
      </p:sp>
      <p:sp>
        <p:nvSpPr>
          <p:cNvPr id="30" name="spatial token 2-7"/>
          <p:cNvSpPr/>
          <p:nvPr/>
        </p:nvSpPr>
        <p:spPr>
          <a:xfrm>
            <a:off x="10890504" y="2203704"/>
            <a:ext cx="365760" cy="365760"/>
          </a:xfrm>
          <a:prstGeom prst="roundRect">
            <a:avLst>
              <a:gd name="adj" fmla="val 12500"/>
            </a:avLst>
          </a:prstGeom>
          <a:solidFill>
            <a:schemeClr val="accent3">
              <a:alpha val="55000"/>
            </a:schemeClr>
          </a:solidFill>
          <a:ln/>
        </p:spPr>
      </p:sp>
      <p:sp>
        <p:nvSpPr>
          <p:cNvPr id="31" name="spatial token 3-0"/>
          <p:cNvSpPr/>
          <p:nvPr/>
        </p:nvSpPr>
        <p:spPr>
          <a:xfrm>
            <a:off x="7818120" y="2642616"/>
            <a:ext cx="365760" cy="365760"/>
          </a:xfrm>
          <a:prstGeom prst="roundRect">
            <a:avLst>
              <a:gd name="adj" fmla="val 12500"/>
            </a:avLst>
          </a:prstGeom>
          <a:solidFill>
            <a:schemeClr val="accent3">
              <a:alpha val="49000"/>
            </a:schemeClr>
          </a:solidFill>
          <a:ln/>
        </p:spPr>
      </p:sp>
      <p:sp>
        <p:nvSpPr>
          <p:cNvPr id="32" name="spatial token 3-1"/>
          <p:cNvSpPr/>
          <p:nvPr/>
        </p:nvSpPr>
        <p:spPr>
          <a:xfrm>
            <a:off x="8257032" y="2642616"/>
            <a:ext cx="365760" cy="365760"/>
          </a:xfrm>
          <a:prstGeom prst="roundRect">
            <a:avLst>
              <a:gd name="adj" fmla="val 12500"/>
            </a:avLst>
          </a:prstGeom>
          <a:solidFill>
            <a:schemeClr val="accent3">
              <a:alpha val="60000"/>
            </a:schemeClr>
          </a:solidFill>
          <a:ln/>
        </p:spPr>
      </p:sp>
      <p:sp>
        <p:nvSpPr>
          <p:cNvPr id="33" name="spatial token 3-2"/>
          <p:cNvSpPr/>
          <p:nvPr/>
        </p:nvSpPr>
        <p:spPr>
          <a:xfrm>
            <a:off x="8695944" y="2642616"/>
            <a:ext cx="365760" cy="365760"/>
          </a:xfrm>
          <a:prstGeom prst="roundRect">
            <a:avLst>
              <a:gd name="adj" fmla="val 12500"/>
            </a:avLst>
          </a:prstGeom>
          <a:solidFill>
            <a:schemeClr val="accent3">
              <a:alpha val="71000"/>
            </a:schemeClr>
          </a:solidFill>
          <a:ln/>
        </p:spPr>
      </p:sp>
      <p:sp>
        <p:nvSpPr>
          <p:cNvPr id="34" name="spatial token 3-3"/>
          <p:cNvSpPr/>
          <p:nvPr/>
        </p:nvSpPr>
        <p:spPr>
          <a:xfrm>
            <a:off x="9134856" y="2642616"/>
            <a:ext cx="365760" cy="365760"/>
          </a:xfrm>
          <a:prstGeom prst="roundRect">
            <a:avLst>
              <a:gd name="adj" fmla="val 12500"/>
            </a:avLst>
          </a:prstGeom>
          <a:solidFill>
            <a:schemeClr val="accent3">
              <a:alpha val="82000"/>
            </a:schemeClr>
          </a:solidFill>
          <a:ln/>
        </p:spPr>
      </p:sp>
      <p:sp>
        <p:nvSpPr>
          <p:cNvPr id="35" name="spatial token 3-4"/>
          <p:cNvSpPr/>
          <p:nvPr/>
        </p:nvSpPr>
        <p:spPr>
          <a:xfrm>
            <a:off x="9573768" y="2642616"/>
            <a:ext cx="365760" cy="365760"/>
          </a:xfrm>
          <a:prstGeom prst="roundRect">
            <a:avLst>
              <a:gd name="adj" fmla="val 12500"/>
            </a:avLst>
          </a:prstGeom>
          <a:solidFill>
            <a:schemeClr val="accent3">
              <a:alpha val="90000"/>
            </a:schemeClr>
          </a:solidFill>
          <a:ln/>
        </p:spPr>
      </p:sp>
      <p:sp>
        <p:nvSpPr>
          <p:cNvPr id="36" name="spatial token 3-5"/>
          <p:cNvSpPr/>
          <p:nvPr/>
        </p:nvSpPr>
        <p:spPr>
          <a:xfrm>
            <a:off x="10012680" y="2642616"/>
            <a:ext cx="365760" cy="365760"/>
          </a:xfrm>
          <a:prstGeom prst="roundRect">
            <a:avLst>
              <a:gd name="adj" fmla="val 12500"/>
            </a:avLst>
          </a:prstGeom>
          <a:solidFill>
            <a:schemeClr val="accent3">
              <a:alpha val="80000"/>
            </a:schemeClr>
          </a:solidFill>
          <a:ln/>
        </p:spPr>
      </p:sp>
      <p:sp>
        <p:nvSpPr>
          <p:cNvPr id="37" name="spatial token 3-6"/>
          <p:cNvSpPr/>
          <p:nvPr/>
        </p:nvSpPr>
        <p:spPr>
          <a:xfrm>
            <a:off x="10451592" y="2642616"/>
            <a:ext cx="365760" cy="365760"/>
          </a:xfrm>
          <a:prstGeom prst="roundRect">
            <a:avLst>
              <a:gd name="adj" fmla="val 12500"/>
            </a:avLst>
          </a:prstGeom>
          <a:solidFill>
            <a:schemeClr val="accent3">
              <a:alpha val="69000"/>
            </a:schemeClr>
          </a:solidFill>
          <a:ln/>
        </p:spPr>
      </p:sp>
      <p:sp>
        <p:nvSpPr>
          <p:cNvPr id="38" name="spatial token 3-7"/>
          <p:cNvSpPr/>
          <p:nvPr/>
        </p:nvSpPr>
        <p:spPr>
          <a:xfrm>
            <a:off x="10890504" y="2642616"/>
            <a:ext cx="365760" cy="365760"/>
          </a:xfrm>
          <a:prstGeom prst="roundRect">
            <a:avLst>
              <a:gd name="adj" fmla="val 12500"/>
            </a:avLst>
          </a:prstGeom>
          <a:solidFill>
            <a:schemeClr val="accent3">
              <a:alpha val="58000"/>
            </a:schemeClr>
          </a:solidFill>
          <a:ln/>
        </p:spPr>
      </p:sp>
      <p:sp>
        <p:nvSpPr>
          <p:cNvPr id="39" name="spatial token 4-0"/>
          <p:cNvSpPr/>
          <p:nvPr/>
        </p:nvSpPr>
        <p:spPr>
          <a:xfrm>
            <a:off x="7818120" y="3081528"/>
            <a:ext cx="365760" cy="365760"/>
          </a:xfrm>
          <a:prstGeom prst="roundRect">
            <a:avLst>
              <a:gd name="adj" fmla="val 12500"/>
            </a:avLst>
          </a:prstGeom>
          <a:solidFill>
            <a:schemeClr val="accent3">
              <a:alpha val="48000"/>
            </a:schemeClr>
          </a:solidFill>
          <a:ln/>
        </p:spPr>
      </p:sp>
      <p:sp>
        <p:nvSpPr>
          <p:cNvPr id="40" name="spatial token 4-1"/>
          <p:cNvSpPr/>
          <p:nvPr/>
        </p:nvSpPr>
        <p:spPr>
          <a:xfrm>
            <a:off x="8257032" y="3081528"/>
            <a:ext cx="365760" cy="365760"/>
          </a:xfrm>
          <a:prstGeom prst="roundRect">
            <a:avLst>
              <a:gd name="adj" fmla="val 12500"/>
            </a:avLst>
          </a:prstGeom>
          <a:solidFill>
            <a:schemeClr val="accent3">
              <a:alpha val="59000"/>
            </a:schemeClr>
          </a:solidFill>
          <a:ln/>
        </p:spPr>
      </p:sp>
      <p:sp>
        <p:nvSpPr>
          <p:cNvPr id="41" name="spatial token 4-2"/>
          <p:cNvSpPr/>
          <p:nvPr/>
        </p:nvSpPr>
        <p:spPr>
          <a:xfrm>
            <a:off x="8695944" y="3081528"/>
            <a:ext cx="365760" cy="365760"/>
          </a:xfrm>
          <a:prstGeom prst="roundRect">
            <a:avLst>
              <a:gd name="adj" fmla="val 12500"/>
            </a:avLst>
          </a:prstGeom>
          <a:solidFill>
            <a:schemeClr val="accent3">
              <a:alpha val="69000"/>
            </a:schemeClr>
          </a:solidFill>
          <a:ln/>
        </p:spPr>
      </p:sp>
      <p:sp>
        <p:nvSpPr>
          <p:cNvPr id="42" name="spatial token 4-3"/>
          <p:cNvSpPr/>
          <p:nvPr/>
        </p:nvSpPr>
        <p:spPr>
          <a:xfrm>
            <a:off x="9134856" y="3081528"/>
            <a:ext cx="365760" cy="365760"/>
          </a:xfrm>
          <a:prstGeom prst="roundRect">
            <a:avLst>
              <a:gd name="adj" fmla="val 12500"/>
            </a:avLst>
          </a:prstGeom>
          <a:solidFill>
            <a:schemeClr val="accent3">
              <a:alpha val="79000"/>
            </a:schemeClr>
          </a:solidFill>
          <a:ln/>
        </p:spPr>
      </p:sp>
      <p:sp>
        <p:nvSpPr>
          <p:cNvPr id="43" name="spatial token 4-4"/>
          <p:cNvSpPr/>
          <p:nvPr/>
        </p:nvSpPr>
        <p:spPr>
          <a:xfrm>
            <a:off x="9573768" y="3081528"/>
            <a:ext cx="365760" cy="365760"/>
          </a:xfrm>
          <a:prstGeom prst="roundRect">
            <a:avLst>
              <a:gd name="adj" fmla="val 12500"/>
            </a:avLst>
          </a:prstGeom>
          <a:solidFill>
            <a:schemeClr val="accent3">
              <a:alpha val="83000"/>
            </a:schemeClr>
          </a:solidFill>
          <a:ln/>
        </p:spPr>
      </p:sp>
      <p:sp>
        <p:nvSpPr>
          <p:cNvPr id="44" name="spatial token 4-5"/>
          <p:cNvSpPr/>
          <p:nvPr/>
        </p:nvSpPr>
        <p:spPr>
          <a:xfrm>
            <a:off x="10012680" y="3081528"/>
            <a:ext cx="365760" cy="365760"/>
          </a:xfrm>
          <a:prstGeom prst="roundRect">
            <a:avLst>
              <a:gd name="adj" fmla="val 12500"/>
            </a:avLst>
          </a:prstGeom>
          <a:solidFill>
            <a:schemeClr val="accent3">
              <a:alpha val="77000"/>
            </a:schemeClr>
          </a:solidFill>
          <a:ln/>
        </p:spPr>
      </p:sp>
      <p:sp>
        <p:nvSpPr>
          <p:cNvPr id="45" name="spatial token 4-6"/>
          <p:cNvSpPr/>
          <p:nvPr/>
        </p:nvSpPr>
        <p:spPr>
          <a:xfrm>
            <a:off x="10451592" y="3081528"/>
            <a:ext cx="365760" cy="365760"/>
          </a:xfrm>
          <a:prstGeom prst="roundRect">
            <a:avLst>
              <a:gd name="adj" fmla="val 12500"/>
            </a:avLst>
          </a:prstGeom>
          <a:solidFill>
            <a:schemeClr val="accent3">
              <a:alpha val="67000"/>
            </a:schemeClr>
          </a:solidFill>
          <a:ln/>
        </p:spPr>
      </p:sp>
      <p:sp>
        <p:nvSpPr>
          <p:cNvPr id="46" name="spatial token 4-7"/>
          <p:cNvSpPr/>
          <p:nvPr/>
        </p:nvSpPr>
        <p:spPr>
          <a:xfrm>
            <a:off x="10890504" y="3081528"/>
            <a:ext cx="365760" cy="365760"/>
          </a:xfrm>
          <a:prstGeom prst="roundRect">
            <a:avLst>
              <a:gd name="adj" fmla="val 12500"/>
            </a:avLst>
          </a:prstGeom>
          <a:solidFill>
            <a:schemeClr val="accent3">
              <a:alpha val="57000"/>
            </a:schemeClr>
          </a:solidFill>
          <a:ln/>
        </p:spPr>
      </p:sp>
      <p:sp>
        <p:nvSpPr>
          <p:cNvPr id="47" name="spatial token 5-0"/>
          <p:cNvSpPr/>
          <p:nvPr/>
        </p:nvSpPr>
        <p:spPr>
          <a:xfrm>
            <a:off x="7818120" y="3520440"/>
            <a:ext cx="365760" cy="365760"/>
          </a:xfrm>
          <a:prstGeom prst="roundRect">
            <a:avLst>
              <a:gd name="adj" fmla="val 12500"/>
            </a:avLst>
          </a:prstGeom>
          <a:solidFill>
            <a:schemeClr val="accent3">
              <a:alpha val="45000"/>
            </a:schemeClr>
          </a:solidFill>
          <a:ln/>
        </p:spPr>
      </p:sp>
      <p:sp>
        <p:nvSpPr>
          <p:cNvPr id="48" name="spatial token 5-1"/>
          <p:cNvSpPr/>
          <p:nvPr/>
        </p:nvSpPr>
        <p:spPr>
          <a:xfrm>
            <a:off x="8257032" y="3520440"/>
            <a:ext cx="365760" cy="365760"/>
          </a:xfrm>
          <a:prstGeom prst="roundRect">
            <a:avLst>
              <a:gd name="adj" fmla="val 12500"/>
            </a:avLst>
          </a:prstGeom>
          <a:solidFill>
            <a:schemeClr val="accent3">
              <a:alpha val="54000"/>
            </a:schemeClr>
          </a:solidFill>
          <a:ln/>
        </p:spPr>
      </p:sp>
      <p:sp>
        <p:nvSpPr>
          <p:cNvPr id="49" name="spatial token 5-2"/>
          <p:cNvSpPr/>
          <p:nvPr/>
        </p:nvSpPr>
        <p:spPr>
          <a:xfrm>
            <a:off x="8695944" y="3520440"/>
            <a:ext cx="365760" cy="365760"/>
          </a:xfrm>
          <a:prstGeom prst="roundRect">
            <a:avLst>
              <a:gd name="adj" fmla="val 12500"/>
            </a:avLst>
          </a:prstGeom>
          <a:solidFill>
            <a:schemeClr val="accent3">
              <a:alpha val="63000"/>
            </a:schemeClr>
          </a:solidFill>
          <a:ln/>
        </p:spPr>
      </p:sp>
      <p:sp>
        <p:nvSpPr>
          <p:cNvPr id="50" name="spatial token 5-3"/>
          <p:cNvSpPr/>
          <p:nvPr/>
        </p:nvSpPr>
        <p:spPr>
          <a:xfrm>
            <a:off x="9134856" y="3520440"/>
            <a:ext cx="365760" cy="365760"/>
          </a:xfrm>
          <a:prstGeom prst="roundRect">
            <a:avLst>
              <a:gd name="adj" fmla="val 12500"/>
            </a:avLst>
          </a:prstGeom>
          <a:solidFill>
            <a:schemeClr val="accent3">
              <a:alpha val="70000"/>
            </a:schemeClr>
          </a:solidFill>
          <a:ln/>
        </p:spPr>
      </p:sp>
      <p:sp>
        <p:nvSpPr>
          <p:cNvPr id="51" name="spatial token 5-4"/>
          <p:cNvSpPr/>
          <p:nvPr/>
        </p:nvSpPr>
        <p:spPr>
          <a:xfrm>
            <a:off x="9573768" y="3520440"/>
            <a:ext cx="365760" cy="365760"/>
          </a:xfrm>
          <a:prstGeom prst="roundRect">
            <a:avLst>
              <a:gd name="adj" fmla="val 12500"/>
            </a:avLst>
          </a:prstGeom>
          <a:solidFill>
            <a:schemeClr val="accent3">
              <a:alpha val="72000"/>
            </a:schemeClr>
          </a:solidFill>
          <a:ln/>
        </p:spPr>
      </p:sp>
      <p:sp>
        <p:nvSpPr>
          <p:cNvPr id="52" name="spatial token 5-5"/>
          <p:cNvSpPr/>
          <p:nvPr/>
        </p:nvSpPr>
        <p:spPr>
          <a:xfrm>
            <a:off x="10012680" y="3520440"/>
            <a:ext cx="365760" cy="365760"/>
          </a:xfrm>
          <a:prstGeom prst="roundRect">
            <a:avLst>
              <a:gd name="adj" fmla="val 12500"/>
            </a:avLst>
          </a:prstGeom>
          <a:solidFill>
            <a:schemeClr val="accent3">
              <a:alpha val="69000"/>
            </a:schemeClr>
          </a:solidFill>
          <a:ln/>
        </p:spPr>
      </p:sp>
      <p:sp>
        <p:nvSpPr>
          <p:cNvPr id="53" name="spatial token 5-6"/>
          <p:cNvSpPr/>
          <p:nvPr/>
        </p:nvSpPr>
        <p:spPr>
          <a:xfrm>
            <a:off x="10451592" y="3520440"/>
            <a:ext cx="365760" cy="365760"/>
          </a:xfrm>
          <a:prstGeom prst="roundRect">
            <a:avLst>
              <a:gd name="adj" fmla="val 12500"/>
            </a:avLst>
          </a:prstGeom>
          <a:solidFill>
            <a:schemeClr val="accent3">
              <a:alpha val="62000"/>
            </a:schemeClr>
          </a:solidFill>
          <a:ln/>
        </p:spPr>
      </p:sp>
      <p:sp>
        <p:nvSpPr>
          <p:cNvPr id="54" name="spatial token 5-7"/>
          <p:cNvSpPr/>
          <p:nvPr/>
        </p:nvSpPr>
        <p:spPr>
          <a:xfrm>
            <a:off x="10890504" y="3520440"/>
            <a:ext cx="365760" cy="365760"/>
          </a:xfrm>
          <a:prstGeom prst="roundRect">
            <a:avLst>
              <a:gd name="adj" fmla="val 12500"/>
            </a:avLst>
          </a:prstGeom>
          <a:solidFill>
            <a:schemeClr val="accent3">
              <a:alpha val="53000"/>
            </a:schemeClr>
          </a:solidFill>
          <a:ln/>
        </p:spPr>
      </p:sp>
      <p:sp>
        <p:nvSpPr>
          <p:cNvPr id="55" name="spatial token 6-0"/>
          <p:cNvSpPr/>
          <p:nvPr/>
        </p:nvSpPr>
        <p:spPr>
          <a:xfrm>
            <a:off x="7818120" y="3959352"/>
            <a:ext cx="365760" cy="365760"/>
          </a:xfrm>
          <a:prstGeom prst="roundRect">
            <a:avLst>
              <a:gd name="adj" fmla="val 12500"/>
            </a:avLst>
          </a:prstGeom>
          <a:solidFill>
            <a:schemeClr val="accent3">
              <a:alpha val="39000"/>
            </a:schemeClr>
          </a:solidFill>
          <a:ln/>
        </p:spPr>
      </p:sp>
      <p:sp>
        <p:nvSpPr>
          <p:cNvPr id="56" name="spatial token 6-1"/>
          <p:cNvSpPr/>
          <p:nvPr/>
        </p:nvSpPr>
        <p:spPr>
          <a:xfrm>
            <a:off x="8257032" y="3959352"/>
            <a:ext cx="365760" cy="365760"/>
          </a:xfrm>
          <a:prstGeom prst="roundRect">
            <a:avLst>
              <a:gd name="adj" fmla="val 12500"/>
            </a:avLst>
          </a:prstGeom>
          <a:solidFill>
            <a:schemeClr val="accent3">
              <a:alpha val="48000"/>
            </a:schemeClr>
          </a:solidFill>
          <a:ln/>
        </p:spPr>
      </p:sp>
      <p:sp>
        <p:nvSpPr>
          <p:cNvPr id="57" name="spatial token 6-2"/>
          <p:cNvSpPr/>
          <p:nvPr/>
        </p:nvSpPr>
        <p:spPr>
          <a:xfrm>
            <a:off x="8695944" y="3959352"/>
            <a:ext cx="365760" cy="365760"/>
          </a:xfrm>
          <a:prstGeom prst="roundRect">
            <a:avLst>
              <a:gd name="adj" fmla="val 12500"/>
            </a:avLst>
          </a:prstGeom>
          <a:solidFill>
            <a:schemeClr val="accent3">
              <a:alpha val="55000"/>
            </a:schemeClr>
          </a:solidFill>
          <a:ln/>
        </p:spPr>
      </p:sp>
      <p:sp>
        <p:nvSpPr>
          <p:cNvPr id="58" name="spatial token 6-3"/>
          <p:cNvSpPr/>
          <p:nvPr/>
        </p:nvSpPr>
        <p:spPr>
          <a:xfrm>
            <a:off x="9134856" y="3959352"/>
            <a:ext cx="365760" cy="365760"/>
          </a:xfrm>
          <a:prstGeom prst="roundRect">
            <a:avLst>
              <a:gd name="adj" fmla="val 12500"/>
            </a:avLst>
          </a:prstGeom>
          <a:solidFill>
            <a:schemeClr val="accent3">
              <a:alpha val="60000"/>
            </a:schemeClr>
          </a:solidFill>
          <a:ln/>
        </p:spPr>
      </p:sp>
      <p:sp>
        <p:nvSpPr>
          <p:cNvPr id="59" name="spatial token 6-4"/>
          <p:cNvSpPr/>
          <p:nvPr/>
        </p:nvSpPr>
        <p:spPr>
          <a:xfrm>
            <a:off x="9573768" y="3959352"/>
            <a:ext cx="365760" cy="365760"/>
          </a:xfrm>
          <a:prstGeom prst="roundRect">
            <a:avLst>
              <a:gd name="adj" fmla="val 12500"/>
            </a:avLst>
          </a:prstGeom>
          <a:solidFill>
            <a:schemeClr val="accent3">
              <a:alpha val="61000"/>
            </a:schemeClr>
          </a:solidFill>
          <a:ln/>
        </p:spPr>
      </p:sp>
      <p:sp>
        <p:nvSpPr>
          <p:cNvPr id="60" name="spatial token 6-5"/>
          <p:cNvSpPr/>
          <p:nvPr/>
        </p:nvSpPr>
        <p:spPr>
          <a:xfrm>
            <a:off x="10012680" y="3959352"/>
            <a:ext cx="365760" cy="365760"/>
          </a:xfrm>
          <a:prstGeom prst="roundRect">
            <a:avLst>
              <a:gd name="adj" fmla="val 12500"/>
            </a:avLst>
          </a:prstGeom>
          <a:solidFill>
            <a:schemeClr val="accent3">
              <a:alpha val="59000"/>
            </a:schemeClr>
          </a:solidFill>
          <a:ln/>
        </p:spPr>
      </p:sp>
      <p:sp>
        <p:nvSpPr>
          <p:cNvPr id="61" name="spatial token 6-6"/>
          <p:cNvSpPr/>
          <p:nvPr/>
        </p:nvSpPr>
        <p:spPr>
          <a:xfrm>
            <a:off x="10451592" y="3959352"/>
            <a:ext cx="365760" cy="365760"/>
          </a:xfrm>
          <a:prstGeom prst="roundRect">
            <a:avLst>
              <a:gd name="adj" fmla="val 12500"/>
            </a:avLst>
          </a:prstGeom>
          <a:solidFill>
            <a:schemeClr val="accent3">
              <a:alpha val="53000"/>
            </a:schemeClr>
          </a:solidFill>
          <a:ln/>
        </p:spPr>
      </p:sp>
      <p:sp>
        <p:nvSpPr>
          <p:cNvPr id="62" name="spatial token 6-7"/>
          <p:cNvSpPr/>
          <p:nvPr/>
        </p:nvSpPr>
        <p:spPr>
          <a:xfrm>
            <a:off x="10890504" y="3959352"/>
            <a:ext cx="365760" cy="365760"/>
          </a:xfrm>
          <a:prstGeom prst="roundRect">
            <a:avLst>
              <a:gd name="adj" fmla="val 12500"/>
            </a:avLst>
          </a:prstGeom>
          <a:solidFill>
            <a:schemeClr val="accent3">
              <a:alpha val="46000"/>
            </a:schemeClr>
          </a:solidFill>
          <a:ln/>
        </p:spPr>
      </p:sp>
      <p:sp>
        <p:nvSpPr>
          <p:cNvPr id="63" name="spatial token 7-0"/>
          <p:cNvSpPr/>
          <p:nvPr/>
        </p:nvSpPr>
        <p:spPr>
          <a:xfrm>
            <a:off x="7818120" y="4398264"/>
            <a:ext cx="365760" cy="365760"/>
          </a:xfrm>
          <a:prstGeom prst="roundRect">
            <a:avLst>
              <a:gd name="adj" fmla="val 12500"/>
            </a:avLst>
          </a:prstGeom>
          <a:solidFill>
            <a:schemeClr val="accent3">
              <a:alpha val="32000"/>
            </a:schemeClr>
          </a:solidFill>
          <a:ln/>
        </p:spPr>
      </p:sp>
      <p:sp>
        <p:nvSpPr>
          <p:cNvPr id="64" name="spatial token 7-1"/>
          <p:cNvSpPr/>
          <p:nvPr/>
        </p:nvSpPr>
        <p:spPr>
          <a:xfrm>
            <a:off x="8257032" y="4398264"/>
            <a:ext cx="365760" cy="365760"/>
          </a:xfrm>
          <a:prstGeom prst="roundRect">
            <a:avLst>
              <a:gd name="adj" fmla="val 12500"/>
            </a:avLst>
          </a:prstGeom>
          <a:solidFill>
            <a:schemeClr val="accent3">
              <a:alpha val="39000"/>
            </a:schemeClr>
          </a:solidFill>
          <a:ln/>
        </p:spPr>
      </p:sp>
      <p:sp>
        <p:nvSpPr>
          <p:cNvPr id="65" name="spatial token 7-2"/>
          <p:cNvSpPr/>
          <p:nvPr/>
        </p:nvSpPr>
        <p:spPr>
          <a:xfrm>
            <a:off x="8695944" y="4398264"/>
            <a:ext cx="365760" cy="365760"/>
          </a:xfrm>
          <a:prstGeom prst="roundRect">
            <a:avLst>
              <a:gd name="adj" fmla="val 12500"/>
            </a:avLst>
          </a:prstGeom>
          <a:solidFill>
            <a:schemeClr val="accent3">
              <a:alpha val="45000"/>
            </a:schemeClr>
          </a:solidFill>
          <a:ln/>
        </p:spPr>
      </p:sp>
      <p:sp>
        <p:nvSpPr>
          <p:cNvPr id="66" name="spatial token 7-3"/>
          <p:cNvSpPr/>
          <p:nvPr/>
        </p:nvSpPr>
        <p:spPr>
          <a:xfrm>
            <a:off x="9134856" y="4398264"/>
            <a:ext cx="365760" cy="365760"/>
          </a:xfrm>
          <a:prstGeom prst="roundRect">
            <a:avLst>
              <a:gd name="adj" fmla="val 12500"/>
            </a:avLst>
          </a:prstGeom>
          <a:solidFill>
            <a:schemeClr val="accent3">
              <a:alpha val="49000"/>
            </a:schemeClr>
          </a:solidFill>
          <a:ln/>
        </p:spPr>
      </p:sp>
      <p:sp>
        <p:nvSpPr>
          <p:cNvPr id="67" name="spatial token 7-4"/>
          <p:cNvSpPr/>
          <p:nvPr/>
        </p:nvSpPr>
        <p:spPr>
          <a:xfrm>
            <a:off x="9573768" y="4398264"/>
            <a:ext cx="365760" cy="365760"/>
          </a:xfrm>
          <a:prstGeom prst="roundRect">
            <a:avLst>
              <a:gd name="adj" fmla="val 12500"/>
            </a:avLst>
          </a:prstGeom>
          <a:solidFill>
            <a:schemeClr val="accent3">
              <a:alpha val="50000"/>
            </a:schemeClr>
          </a:solidFill>
          <a:ln/>
        </p:spPr>
      </p:sp>
      <p:sp>
        <p:nvSpPr>
          <p:cNvPr id="68" name="spatial token 7-5"/>
          <p:cNvSpPr/>
          <p:nvPr/>
        </p:nvSpPr>
        <p:spPr>
          <a:xfrm>
            <a:off x="10012680" y="4398264"/>
            <a:ext cx="365760" cy="365760"/>
          </a:xfrm>
          <a:prstGeom prst="roundRect">
            <a:avLst>
              <a:gd name="adj" fmla="val 12500"/>
            </a:avLst>
          </a:prstGeom>
          <a:solidFill>
            <a:schemeClr val="accent3">
              <a:alpha val="48000"/>
            </a:schemeClr>
          </a:solidFill>
          <a:ln/>
        </p:spPr>
      </p:sp>
      <p:sp>
        <p:nvSpPr>
          <p:cNvPr id="69" name="spatial token 7-6"/>
          <p:cNvSpPr/>
          <p:nvPr/>
        </p:nvSpPr>
        <p:spPr>
          <a:xfrm>
            <a:off x="10451592" y="4398264"/>
            <a:ext cx="365760" cy="365760"/>
          </a:xfrm>
          <a:prstGeom prst="roundRect">
            <a:avLst>
              <a:gd name="adj" fmla="val 12500"/>
            </a:avLst>
          </a:prstGeom>
          <a:solidFill>
            <a:schemeClr val="accent3">
              <a:alpha val="44000"/>
            </a:schemeClr>
          </a:solidFill>
          <a:ln/>
        </p:spPr>
      </p:sp>
      <p:sp>
        <p:nvSpPr>
          <p:cNvPr id="70" name="spatial token 7-7"/>
          <p:cNvSpPr/>
          <p:nvPr/>
        </p:nvSpPr>
        <p:spPr>
          <a:xfrm>
            <a:off x="10890504" y="4398264"/>
            <a:ext cx="365760" cy="365760"/>
          </a:xfrm>
          <a:prstGeom prst="roundRect">
            <a:avLst>
              <a:gd name="adj" fmla="val 12500"/>
            </a:avLst>
          </a:prstGeom>
          <a:solidFill>
            <a:schemeClr val="accent3">
              <a:alpha val="38000"/>
            </a:schemeClr>
          </a:solidFill>
          <a:ln/>
        </p:spPr>
      </p:sp>
      <p:sp>
        <p:nvSpPr>
          <p:cNvPr id="71" name="Text 69"/>
          <p:cNvSpPr txBox="1"/>
          <p:nvPr/>
        </p:nvSpPr>
        <p:spPr>
          <a:xfrm>
            <a:off x="7818120" y="4855464"/>
            <a:ext cx="3511296" cy="292608"/>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64 spatial tokens · 3D MRI</a:t>
            </a:r>
            <a:endParaRPr lang="en-US" sz="1400" dirty="0"/>
          </a:p>
        </p:txBody>
      </p:sp>
      <p:sp>
        <p:nvSpPr>
          <p:cNvPr id="72" name="temporal token 0"/>
          <p:cNvSpPr/>
          <p:nvPr/>
        </p:nvSpPr>
        <p:spPr>
          <a:xfrm>
            <a:off x="7818120" y="5406847"/>
            <a:ext cx="182880" cy="308153"/>
          </a:xfrm>
          <a:prstGeom prst="roundRect">
            <a:avLst>
              <a:gd name="adj" fmla="val 20000"/>
            </a:avLst>
          </a:prstGeom>
          <a:solidFill>
            <a:schemeClr val="accent2"/>
          </a:solidFill>
          <a:ln/>
        </p:spPr>
      </p:sp>
      <p:sp>
        <p:nvSpPr>
          <p:cNvPr id="73" name="temporal token 1"/>
          <p:cNvSpPr/>
          <p:nvPr/>
        </p:nvSpPr>
        <p:spPr>
          <a:xfrm>
            <a:off x="8062722" y="5435194"/>
            <a:ext cx="182880" cy="279806"/>
          </a:xfrm>
          <a:prstGeom prst="roundRect">
            <a:avLst>
              <a:gd name="adj" fmla="val 20000"/>
            </a:avLst>
          </a:prstGeom>
          <a:solidFill>
            <a:schemeClr val="accent2"/>
          </a:solidFill>
          <a:ln/>
        </p:spPr>
      </p:sp>
      <p:sp>
        <p:nvSpPr>
          <p:cNvPr id="74" name="temporal token 2"/>
          <p:cNvSpPr/>
          <p:nvPr/>
        </p:nvSpPr>
        <p:spPr>
          <a:xfrm>
            <a:off x="8307324" y="5463540"/>
            <a:ext cx="182880" cy="251460"/>
          </a:xfrm>
          <a:prstGeom prst="roundRect">
            <a:avLst>
              <a:gd name="adj" fmla="val 20000"/>
            </a:avLst>
          </a:prstGeom>
          <a:solidFill>
            <a:schemeClr val="accent2"/>
          </a:solidFill>
          <a:ln/>
        </p:spPr>
      </p:sp>
      <p:sp>
        <p:nvSpPr>
          <p:cNvPr id="75" name="temporal token 3"/>
          <p:cNvSpPr/>
          <p:nvPr/>
        </p:nvSpPr>
        <p:spPr>
          <a:xfrm>
            <a:off x="8551926" y="5491886"/>
            <a:ext cx="182880" cy="223114"/>
          </a:xfrm>
          <a:prstGeom prst="roundRect">
            <a:avLst>
              <a:gd name="adj" fmla="val 20000"/>
            </a:avLst>
          </a:prstGeom>
          <a:solidFill>
            <a:schemeClr val="accent2"/>
          </a:solidFill>
          <a:ln/>
        </p:spPr>
      </p:sp>
      <p:sp>
        <p:nvSpPr>
          <p:cNvPr id="76" name="temporal token 4"/>
          <p:cNvSpPr/>
          <p:nvPr/>
        </p:nvSpPr>
        <p:spPr>
          <a:xfrm>
            <a:off x="8796528" y="5321808"/>
            <a:ext cx="182880" cy="393192"/>
          </a:xfrm>
          <a:prstGeom prst="roundRect">
            <a:avLst>
              <a:gd name="adj" fmla="val 20000"/>
            </a:avLst>
          </a:prstGeom>
          <a:solidFill>
            <a:schemeClr val="accent2"/>
          </a:solidFill>
          <a:ln/>
        </p:spPr>
      </p:sp>
      <p:sp>
        <p:nvSpPr>
          <p:cNvPr id="77" name="temporal token 5"/>
          <p:cNvSpPr/>
          <p:nvPr/>
        </p:nvSpPr>
        <p:spPr>
          <a:xfrm>
            <a:off x="9041130" y="5066690"/>
            <a:ext cx="182880" cy="648310"/>
          </a:xfrm>
          <a:prstGeom prst="roundRect">
            <a:avLst>
              <a:gd name="adj" fmla="val 20000"/>
            </a:avLst>
          </a:prstGeom>
          <a:solidFill>
            <a:schemeClr val="accent2"/>
          </a:solidFill>
          <a:ln/>
        </p:spPr>
      </p:sp>
      <p:sp>
        <p:nvSpPr>
          <p:cNvPr id="78" name="temporal token 6"/>
          <p:cNvSpPr/>
          <p:nvPr/>
        </p:nvSpPr>
        <p:spPr>
          <a:xfrm>
            <a:off x="9285732" y="5038344"/>
            <a:ext cx="182880" cy="676656"/>
          </a:xfrm>
          <a:prstGeom prst="roundRect">
            <a:avLst>
              <a:gd name="adj" fmla="val 20000"/>
            </a:avLst>
          </a:prstGeom>
          <a:solidFill>
            <a:schemeClr val="accent2"/>
          </a:solidFill>
          <a:ln/>
        </p:spPr>
      </p:sp>
      <p:sp>
        <p:nvSpPr>
          <p:cNvPr id="79" name="temporal token 7"/>
          <p:cNvSpPr/>
          <p:nvPr/>
        </p:nvSpPr>
        <p:spPr>
          <a:xfrm>
            <a:off x="9530334" y="5265115"/>
            <a:ext cx="182880" cy="449885"/>
          </a:xfrm>
          <a:prstGeom prst="roundRect">
            <a:avLst>
              <a:gd name="adj" fmla="val 20000"/>
            </a:avLst>
          </a:prstGeom>
          <a:solidFill>
            <a:schemeClr val="accent2"/>
          </a:solidFill>
          <a:ln/>
        </p:spPr>
      </p:sp>
      <p:sp>
        <p:nvSpPr>
          <p:cNvPr id="80" name="temporal token 8"/>
          <p:cNvSpPr/>
          <p:nvPr/>
        </p:nvSpPr>
        <p:spPr>
          <a:xfrm>
            <a:off x="9774936" y="5435194"/>
            <a:ext cx="182880" cy="279806"/>
          </a:xfrm>
          <a:prstGeom prst="roundRect">
            <a:avLst>
              <a:gd name="adj" fmla="val 20000"/>
            </a:avLst>
          </a:prstGeom>
          <a:solidFill>
            <a:schemeClr val="accent2"/>
          </a:solidFill>
          <a:ln/>
        </p:spPr>
      </p:sp>
      <p:sp>
        <p:nvSpPr>
          <p:cNvPr id="81" name="temporal token 9"/>
          <p:cNvSpPr/>
          <p:nvPr/>
        </p:nvSpPr>
        <p:spPr>
          <a:xfrm>
            <a:off x="10019538" y="5548579"/>
            <a:ext cx="182880" cy="166421"/>
          </a:xfrm>
          <a:prstGeom prst="roundRect">
            <a:avLst>
              <a:gd name="adj" fmla="val 21978"/>
            </a:avLst>
          </a:prstGeom>
          <a:solidFill>
            <a:schemeClr val="accent2"/>
          </a:solidFill>
          <a:ln/>
        </p:spPr>
      </p:sp>
      <p:sp>
        <p:nvSpPr>
          <p:cNvPr id="82" name="temporal token 10"/>
          <p:cNvSpPr/>
          <p:nvPr/>
        </p:nvSpPr>
        <p:spPr>
          <a:xfrm>
            <a:off x="10264140" y="5491886"/>
            <a:ext cx="182880" cy="223114"/>
          </a:xfrm>
          <a:prstGeom prst="roundRect">
            <a:avLst>
              <a:gd name="adj" fmla="val 20000"/>
            </a:avLst>
          </a:prstGeom>
          <a:solidFill>
            <a:schemeClr val="accent2"/>
          </a:solidFill>
          <a:ln/>
        </p:spPr>
      </p:sp>
      <p:sp>
        <p:nvSpPr>
          <p:cNvPr id="83" name="temporal token 11"/>
          <p:cNvSpPr/>
          <p:nvPr/>
        </p:nvSpPr>
        <p:spPr>
          <a:xfrm>
            <a:off x="10508742" y="5265115"/>
            <a:ext cx="182880" cy="449885"/>
          </a:xfrm>
          <a:prstGeom prst="roundRect">
            <a:avLst>
              <a:gd name="adj" fmla="val 20000"/>
            </a:avLst>
          </a:prstGeom>
          <a:solidFill>
            <a:schemeClr val="accent2"/>
          </a:solidFill>
          <a:ln/>
        </p:spPr>
      </p:sp>
      <p:sp>
        <p:nvSpPr>
          <p:cNvPr id="84" name="temporal token 12"/>
          <p:cNvSpPr/>
          <p:nvPr/>
        </p:nvSpPr>
        <p:spPr>
          <a:xfrm>
            <a:off x="10753344" y="5151730"/>
            <a:ext cx="182880" cy="563270"/>
          </a:xfrm>
          <a:prstGeom prst="roundRect">
            <a:avLst>
              <a:gd name="adj" fmla="val 20000"/>
            </a:avLst>
          </a:prstGeom>
          <a:solidFill>
            <a:schemeClr val="accent2"/>
          </a:solidFill>
          <a:ln/>
        </p:spPr>
      </p:sp>
      <p:sp>
        <p:nvSpPr>
          <p:cNvPr id="85" name="temporal token 13"/>
          <p:cNvSpPr/>
          <p:nvPr/>
        </p:nvSpPr>
        <p:spPr>
          <a:xfrm>
            <a:off x="10997946" y="5321808"/>
            <a:ext cx="182880" cy="393192"/>
          </a:xfrm>
          <a:prstGeom prst="roundRect">
            <a:avLst>
              <a:gd name="adj" fmla="val 20000"/>
            </a:avLst>
          </a:prstGeom>
          <a:solidFill>
            <a:schemeClr val="accent2"/>
          </a:solidFill>
          <a:ln/>
        </p:spPr>
      </p:sp>
      <p:sp>
        <p:nvSpPr>
          <p:cNvPr id="86" name="temporal token 14"/>
          <p:cNvSpPr/>
          <p:nvPr/>
        </p:nvSpPr>
        <p:spPr>
          <a:xfrm>
            <a:off x="11242548" y="5435194"/>
            <a:ext cx="182880" cy="279806"/>
          </a:xfrm>
          <a:prstGeom prst="roundRect">
            <a:avLst>
              <a:gd name="adj" fmla="val 20000"/>
            </a:avLst>
          </a:prstGeom>
          <a:solidFill>
            <a:schemeClr val="accent2"/>
          </a:solidFill>
          <a:ln/>
        </p:spPr>
      </p:sp>
      <p:sp>
        <p:nvSpPr>
          <p:cNvPr id="87" name="temporal token 15"/>
          <p:cNvSpPr/>
          <p:nvPr/>
        </p:nvSpPr>
        <p:spPr>
          <a:xfrm>
            <a:off x="11487150" y="5463540"/>
            <a:ext cx="182880" cy="251460"/>
          </a:xfrm>
          <a:prstGeom prst="roundRect">
            <a:avLst>
              <a:gd name="adj" fmla="val 20000"/>
            </a:avLst>
          </a:prstGeom>
          <a:solidFill>
            <a:schemeClr val="accent2"/>
          </a:solidFill>
          <a:ln/>
        </p:spPr>
      </p:sp>
      <p:sp>
        <p:nvSpPr>
          <p:cNvPr id="88" name="Text 86"/>
          <p:cNvSpPr txBox="1"/>
          <p:nvPr/>
        </p:nvSpPr>
        <p:spPr>
          <a:xfrm>
            <a:off x="7818120" y="5769864"/>
            <a:ext cx="3511296" cy="292608"/>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16 temporal tokens · 1D VEP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MRI shows where, VEP shows when</a:t>
            </a:r>
            <a:endParaRPr lang="en-US" sz="3600" dirty="0"/>
          </a:p>
        </p:txBody>
      </p:sp>
      <p:sp>
        <p:nvSpPr>
          <p:cNvPr id="3" name="prevalence card"/>
          <p:cNvSpPr/>
          <p:nvPr/>
        </p:nvSpPr>
        <p:spPr>
          <a:xfrm>
            <a:off x="548640" y="1325880"/>
            <a:ext cx="3566160"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sp>
      <p:sp>
        <p:nvSpPr>
          <p:cNvPr id="4" name="globe badge"/>
          <p:cNvSpPr/>
          <p:nvPr/>
        </p:nvSpPr>
        <p:spPr>
          <a:xfrm>
            <a:off x="777240" y="1508760"/>
            <a:ext cx="566928" cy="566928"/>
          </a:xfrm>
          <a:prstGeom prst="ellipse">
            <a:avLst/>
          </a:prstGeom>
          <a:solidFill>
            <a:schemeClr val="accent1"/>
          </a:solidFill>
          <a:ln/>
        </p:spPr>
      </p:sp>
      <p:pic>
        <p:nvPicPr>
          <p:cNvPr id="5" name="globe icon" descr="globe">    </p:cNvPr>
          <p:cNvPicPr>
            <a:picLocks noChangeAspect="1"/>
          </p:cNvPicPr>
          <p:nvPr/>
        </p:nvPicPr>
        <p:blipFill>
          <a:blip r:embed="rId1"/>
          <a:stretch>
            <a:fillRect/>
          </a:stretch>
        </p:blipFill>
        <p:spPr>
          <a:xfrm>
            <a:off x="918972" y="1650492"/>
            <a:ext cx="283464" cy="283464"/>
          </a:xfrm>
          <a:prstGeom prst="rect">
            <a:avLst/>
          </a:prstGeom>
        </p:spPr>
      </p:pic>
      <p:sp>
        <p:nvSpPr>
          <p:cNvPr id="6" name="Text 3"/>
          <p:cNvSpPr txBox="1"/>
          <p:nvPr/>
        </p:nvSpPr>
        <p:spPr>
          <a:xfrm>
            <a:off x="777240" y="2194560"/>
            <a:ext cx="3108960" cy="7772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64.3 M</a:t>
            </a:r>
            <a:endParaRPr lang="en-US" sz="5400" dirty="0"/>
          </a:p>
        </p:txBody>
      </p:sp>
      <p:sp>
        <p:nvSpPr>
          <p:cNvPr id="7" name="Text 4"/>
          <p:cNvSpPr txBox="1"/>
          <p:nvPr/>
        </p:nvSpPr>
        <p:spPr>
          <a:xfrm>
            <a:off x="777240" y="3063240"/>
            <a:ext cx="3108960" cy="10972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people estimated to live with glaucoma worldwide in 2013 (ages 40–80, prevalence 3.54%)</a:t>
            </a:r>
            <a:endParaRPr lang="en-US" sz="1400" dirty="0"/>
          </a:p>
        </p:txBody>
      </p:sp>
      <p:sp>
        <p:nvSpPr>
          <p:cNvPr id="8" name="fig_motivation card"/>
          <p:cNvSpPr/>
          <p:nvPr/>
        </p:nvSpPr>
        <p:spPr>
          <a:xfrm>
            <a:off x="4343400" y="1325880"/>
            <a:ext cx="7299655"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sp>
      <p:pic>
        <p:nvPicPr>
          <p:cNvPr id="9" name="fig_motivation" descr="fig motivation">    </p:cNvPr>
          <p:cNvPicPr>
            <a:picLocks noChangeAspect="1"/>
          </p:cNvPicPr>
          <p:nvPr/>
        </p:nvPicPr>
        <p:blipFill>
          <a:blip r:embed="rId2"/>
          <a:stretch>
            <a:fillRect/>
          </a:stretch>
        </p:blipFill>
        <p:spPr>
          <a:xfrm>
            <a:off x="4480560" y="1514330"/>
            <a:ext cx="7025335" cy="2686340"/>
          </a:xfrm>
          <a:prstGeom prst="rect">
            <a:avLst/>
          </a:prstGeom>
        </p:spPr>
      </p:pic>
      <p:sp>
        <p:nvSpPr>
          <p:cNvPr id="10" name="question banner"/>
          <p:cNvSpPr/>
          <p:nvPr/>
        </p:nvSpPr>
        <p:spPr>
          <a:xfrm>
            <a:off x="548640" y="4617720"/>
            <a:ext cx="11094415" cy="1554480"/>
          </a:xfrm>
          <a:prstGeom prst="roundRect">
            <a:avLst>
              <a:gd name="adj" fmla="val 5882"/>
            </a:avLst>
          </a:prstGeom>
          <a:solidFill>
            <a:schemeClr val="tx2"/>
          </a:solidFill>
          <a:ln/>
          <a:effectLst>
            <a:outerShdw sx="100000" sy="100000" kx="0" ky="0" algn="bl" rotWithShape="0" blurRad="101600" dist="25400" dir="5400000">
              <a:srgbClr val="12232B">
                <a:alpha val="12000"/>
              </a:srgbClr>
            </a:outerShdw>
          </a:effectLst>
        </p:spPr>
      </p:sp>
      <p:sp>
        <p:nvSpPr>
          <p:cNvPr id="11" name="question badge"/>
          <p:cNvSpPr/>
          <p:nvPr/>
        </p:nvSpPr>
        <p:spPr>
          <a:xfrm>
            <a:off x="868680" y="5120640"/>
            <a:ext cx="566928" cy="566928"/>
          </a:xfrm>
          <a:prstGeom prst="ellipse">
            <a:avLst/>
          </a:prstGeom>
          <a:solidFill>
            <a:schemeClr val="accent2"/>
          </a:solidFill>
          <a:ln/>
        </p:spPr>
      </p:sp>
      <p:pic>
        <p:nvPicPr>
          <p:cNvPr id="12" name="question icon" descr="question">    </p:cNvPr>
          <p:cNvPicPr>
            <a:picLocks noChangeAspect="1"/>
          </p:cNvPicPr>
          <p:nvPr/>
        </p:nvPicPr>
        <p:blipFill>
          <a:blip r:embed="rId3"/>
          <a:stretch>
            <a:fillRect/>
          </a:stretch>
        </p:blipFill>
        <p:spPr>
          <a:xfrm>
            <a:off x="1010412" y="5262372"/>
            <a:ext cx="283464" cy="283464"/>
          </a:xfrm>
          <a:prstGeom prst="rect">
            <a:avLst/>
          </a:prstGeom>
        </p:spPr>
      </p:pic>
      <p:sp>
        <p:nvSpPr>
          <p:cNvPr id="13" name="Text 8"/>
          <p:cNvSpPr txBox="1"/>
          <p:nvPr/>
        </p:nvSpPr>
        <p:spPr>
          <a:xfrm>
            <a:off x="1645920" y="4754880"/>
            <a:ext cx="3657600"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Our question</a:t>
            </a:r>
            <a:endParaRPr lang="en-US" sz="1400" dirty="0"/>
          </a:p>
        </p:txBody>
      </p:sp>
      <p:sp>
        <p:nvSpPr>
          <p:cNvPr id="14" name="Text 9"/>
          <p:cNvSpPr txBox="1"/>
          <p:nvPr/>
        </p:nvSpPr>
        <p:spPr>
          <a:xfrm>
            <a:off x="1645920" y="5074920"/>
            <a:ext cx="9539935" cy="914400"/>
          </a:xfrm>
          <a:prstGeom prst="rect">
            <a:avLst/>
          </a:prstGeom>
          <a:noFill/>
          <a:ln/>
        </p:spPr>
        <p:txBody>
          <a:bodyPr wrap="square" lIns="0" tIns="0" rIns="0" bIns="0" rtlCol="0" anchor="t"/>
          <a:lstStyle/>
          <a:p>
            <a:pPr indent="0" marL="0">
              <a:buNone/>
            </a:pPr>
            <a:r>
              <a:rPr lang="en-US" sz="2200" dirty="0">
                <a:solidFill>
                  <a:schemeClr val="bg1"/>
                </a:solidFill>
                <a:latin typeface="Cambria" pitchFamily="34" charset="0"/>
                <a:ea typeface="Cambria" pitchFamily="34" charset="-122"/>
                <a:cs typeface="Cambria" pitchFamily="34" charset="-120"/>
              </a:rPr>
              <a:t>Can each spatial region of the brain scan ask which temporal features of the evoked-potential waveform are relevant to it?</a:t>
            </a:r>
            <a:endParaRPr lang="en-US" sz="2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Four obstacles, four answers</a:t>
            </a:r>
            <a:endParaRPr lang="en-US" sz="3600" dirty="0"/>
          </a:p>
        </p:txBody>
      </p:sp>
      <p:sp>
        <p:nvSpPr>
          <p:cNvPr id="3" name="obstacle 1"/>
          <p:cNvSpPr/>
          <p:nvPr/>
        </p:nvSpPr>
        <p:spPr>
          <a:xfrm>
            <a:off x="548640" y="137160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sp>
      <p:sp>
        <p:nvSpPr>
          <p:cNvPr id="4" name="Unimodal isolation badge"/>
          <p:cNvSpPr/>
          <p:nvPr/>
        </p:nvSpPr>
        <p:spPr>
          <a:xfrm>
            <a:off x="822960" y="1645920"/>
            <a:ext cx="640080" cy="640080"/>
          </a:xfrm>
          <a:prstGeom prst="ellipse">
            <a:avLst/>
          </a:prstGeom>
          <a:solidFill>
            <a:schemeClr val="accent1"/>
          </a:solidFill>
          <a:ln/>
        </p:spPr>
      </p:sp>
      <p:pic>
        <p:nvPicPr>
          <p:cNvPr id="5" name="Unimodal isolation icon" descr="Unimodal isolation">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66420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Unimodal isolation</a:t>
            </a:r>
            <a:endParaRPr lang="en-US" sz="2200" dirty="0"/>
          </a:p>
        </p:txBody>
      </p:sp>
      <p:sp>
        <p:nvSpPr>
          <p:cNvPr id="7" name="Text 4"/>
          <p:cNvSpPr txBox="1"/>
          <p:nvPr/>
        </p:nvSpPr>
        <p:spPr>
          <a:xfrm>
            <a:off x="822960" y="2468880"/>
            <a:ext cx="137160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Answer</a:t>
            </a:r>
            <a:endParaRPr lang="en-US" sz="1400" dirty="0"/>
          </a:p>
        </p:txBody>
      </p:sp>
      <p:sp>
        <p:nvSpPr>
          <p:cNvPr id="8" name="Text 5"/>
          <p:cNvSpPr txBox="1"/>
          <p:nvPr/>
        </p:nvSpPr>
        <p:spPr>
          <a:xfrm>
            <a:off x="822960" y="274320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One network, two streams: a 3D CNN for MRI and a 1D CNN for VEP, trained with a fused head.</a:t>
            </a:r>
            <a:endParaRPr lang="en-US" sz="1600" dirty="0"/>
          </a:p>
        </p:txBody>
      </p:sp>
      <p:sp>
        <p:nvSpPr>
          <p:cNvPr id="9" name="obstacle 2"/>
          <p:cNvSpPr/>
          <p:nvPr/>
        </p:nvSpPr>
        <p:spPr>
          <a:xfrm>
            <a:off x="6233008" y="137160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sp>
      <p:sp>
        <p:nvSpPr>
          <p:cNvPr id="10" name="Cross-modal heterogeneity badge"/>
          <p:cNvSpPr/>
          <p:nvPr/>
        </p:nvSpPr>
        <p:spPr>
          <a:xfrm>
            <a:off x="6507328" y="1645920"/>
            <a:ext cx="640080" cy="640080"/>
          </a:xfrm>
          <a:prstGeom prst="ellipse">
            <a:avLst/>
          </a:prstGeom>
          <a:solidFill>
            <a:schemeClr val="accent3"/>
          </a:solidFill>
          <a:ln/>
        </p:spPr>
      </p:sp>
      <p:pic>
        <p:nvPicPr>
          <p:cNvPr id="11" name="Cross-modal heterogeneity icon" descr="Cross-modal heterogeneity">    </p:cNvPr>
          <p:cNvPicPr>
            <a:picLocks noChangeAspect="1"/>
          </p:cNvPicPr>
          <p:nvPr/>
        </p:nvPicPr>
        <p:blipFill>
          <a:blip r:embed="rId2"/>
          <a:stretch>
            <a:fillRect/>
          </a:stretch>
        </p:blipFill>
        <p:spPr>
          <a:xfrm>
            <a:off x="6667348" y="1805940"/>
            <a:ext cx="320040" cy="320040"/>
          </a:xfrm>
          <a:prstGeom prst="rect">
            <a:avLst/>
          </a:prstGeom>
        </p:spPr>
      </p:pic>
      <p:sp>
        <p:nvSpPr>
          <p:cNvPr id="12" name="Text 8"/>
          <p:cNvSpPr txBox="1"/>
          <p:nvPr/>
        </p:nvSpPr>
        <p:spPr>
          <a:xfrm>
            <a:off x="7330288" y="166420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Cross-modal heterogeneity</a:t>
            </a:r>
            <a:endParaRPr lang="en-US" sz="2200" dirty="0"/>
          </a:p>
        </p:txBody>
      </p:sp>
      <p:sp>
        <p:nvSpPr>
          <p:cNvPr id="13" name="Text 9"/>
          <p:cNvSpPr txBox="1"/>
          <p:nvPr/>
        </p:nvSpPr>
        <p:spPr>
          <a:xfrm>
            <a:off x="6507328" y="2468880"/>
            <a:ext cx="1371600" cy="27432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Answer</a:t>
            </a:r>
            <a:endParaRPr lang="en-US" sz="1400" dirty="0"/>
          </a:p>
        </p:txBody>
      </p:sp>
      <p:sp>
        <p:nvSpPr>
          <p:cNvPr id="14" name="Text 10"/>
          <p:cNvSpPr txBox="1"/>
          <p:nvPr/>
        </p:nvSpPr>
        <p:spPr>
          <a:xfrm>
            <a:off x="6507328" y="274320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Cross-attention: spatial tokens are queries, temporal tokens are keys and values.</a:t>
            </a:r>
            <a:endParaRPr lang="en-US" sz="1600" dirty="0"/>
          </a:p>
        </p:txBody>
      </p:sp>
      <p:sp>
        <p:nvSpPr>
          <p:cNvPr id="15" name="obstacle 3"/>
          <p:cNvSpPr/>
          <p:nvPr/>
        </p:nvSpPr>
        <p:spPr>
          <a:xfrm>
            <a:off x="548640" y="393192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sp>
      <p:sp>
        <p:nvSpPr>
          <p:cNvPr id="16" name="Limited interpretability badge"/>
          <p:cNvSpPr/>
          <p:nvPr/>
        </p:nvSpPr>
        <p:spPr>
          <a:xfrm>
            <a:off x="822960" y="4206240"/>
            <a:ext cx="640080" cy="640080"/>
          </a:xfrm>
          <a:prstGeom prst="ellipse">
            <a:avLst/>
          </a:prstGeom>
          <a:solidFill>
            <a:schemeClr val="accent5"/>
          </a:solidFill>
          <a:ln/>
        </p:spPr>
      </p:sp>
      <p:pic>
        <p:nvPicPr>
          <p:cNvPr id="17" name="Limited interpretability icon" descr="Limited interpretability">    </p:cNvPr>
          <p:cNvPicPr>
            <a:picLocks noChangeAspect="1"/>
          </p:cNvPicPr>
          <p:nvPr/>
        </p:nvPicPr>
        <p:blipFill>
          <a:blip r:embed="rId3"/>
          <a:stretch>
            <a:fillRect/>
          </a:stretch>
        </p:blipFill>
        <p:spPr>
          <a:xfrm>
            <a:off x="982980" y="4366260"/>
            <a:ext cx="320040" cy="320040"/>
          </a:xfrm>
          <a:prstGeom prst="rect">
            <a:avLst/>
          </a:prstGeom>
        </p:spPr>
      </p:pic>
      <p:sp>
        <p:nvSpPr>
          <p:cNvPr id="18" name="Text 13"/>
          <p:cNvSpPr txBox="1"/>
          <p:nvPr/>
        </p:nvSpPr>
        <p:spPr>
          <a:xfrm>
            <a:off x="1645920" y="422452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Limited interpretability</a:t>
            </a:r>
            <a:endParaRPr lang="en-US" sz="2200" dirty="0"/>
          </a:p>
        </p:txBody>
      </p:sp>
      <p:sp>
        <p:nvSpPr>
          <p:cNvPr id="19" name="Text 14"/>
          <p:cNvSpPr txBox="1"/>
          <p:nvPr/>
        </p:nvSpPr>
        <p:spPr>
          <a:xfrm>
            <a:off x="822960" y="5029200"/>
            <a:ext cx="1371600" cy="27432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Answer</a:t>
            </a:r>
            <a:endParaRPr lang="en-US" sz="1400" dirty="0"/>
          </a:p>
        </p:txBody>
      </p:sp>
      <p:sp>
        <p:nvSpPr>
          <p:cNvPr id="20" name="Text 15"/>
          <p:cNvSpPr txBox="1"/>
          <p:nvPr/>
        </p:nvSpPr>
        <p:spPr>
          <a:xfrm>
            <a:off x="822960" y="530352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3D Grad-CAM and an attention heatmap, used as inspection aids rather than explanations.</a:t>
            </a:r>
            <a:endParaRPr lang="en-US" sz="1600" dirty="0"/>
          </a:p>
        </p:txBody>
      </p:sp>
      <p:sp>
        <p:nvSpPr>
          <p:cNvPr id="21" name="obstacle 4"/>
          <p:cNvSpPr/>
          <p:nvPr/>
        </p:nvSpPr>
        <p:spPr>
          <a:xfrm>
            <a:off x="6233008" y="393192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sp>
      <p:sp>
        <p:nvSpPr>
          <p:cNvPr id="22" name="No paired public dataset badge"/>
          <p:cNvSpPr/>
          <p:nvPr/>
        </p:nvSpPr>
        <p:spPr>
          <a:xfrm>
            <a:off x="6507328" y="4206240"/>
            <a:ext cx="640080" cy="640080"/>
          </a:xfrm>
          <a:prstGeom prst="ellipse">
            <a:avLst/>
          </a:prstGeom>
          <a:solidFill>
            <a:schemeClr val="accent2"/>
          </a:solidFill>
          <a:ln/>
        </p:spPr>
      </p:sp>
      <p:pic>
        <p:nvPicPr>
          <p:cNvPr id="23" name="No paired public dataset icon" descr="No paired public dataset">    </p:cNvPr>
          <p:cNvPicPr>
            <a:picLocks noChangeAspect="1"/>
          </p:cNvPicPr>
          <p:nvPr/>
        </p:nvPicPr>
        <p:blipFill>
          <a:blip r:embed="rId4"/>
          <a:stretch>
            <a:fillRect/>
          </a:stretch>
        </p:blipFill>
        <p:spPr>
          <a:xfrm>
            <a:off x="6667348" y="4366260"/>
            <a:ext cx="320040" cy="320040"/>
          </a:xfrm>
          <a:prstGeom prst="rect">
            <a:avLst/>
          </a:prstGeom>
        </p:spPr>
      </p:pic>
      <p:sp>
        <p:nvSpPr>
          <p:cNvPr id="24" name="Text 18"/>
          <p:cNvSpPr txBox="1"/>
          <p:nvPr/>
        </p:nvSpPr>
        <p:spPr>
          <a:xfrm>
            <a:off x="7330288" y="422452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No paired public dataset</a:t>
            </a:r>
            <a:endParaRPr lang="en-US" sz="2200" dirty="0"/>
          </a:p>
        </p:txBody>
      </p:sp>
      <p:sp>
        <p:nvSpPr>
          <p:cNvPr id="25" name="Text 19"/>
          <p:cNvSpPr txBox="1"/>
          <p:nvPr/>
        </p:nvSpPr>
        <p:spPr>
          <a:xfrm>
            <a:off x="6507328" y="5029200"/>
            <a:ext cx="137160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Answer</a:t>
            </a:r>
            <a:endParaRPr lang="en-US" sz="1400" dirty="0"/>
          </a:p>
        </p:txBody>
      </p:sp>
      <p:sp>
        <p:nvSpPr>
          <p:cNvPr id="26" name="Text 20"/>
          <p:cNvSpPr txBox="1"/>
          <p:nvPr/>
        </p:nvSpPr>
        <p:spPr>
          <a:xfrm>
            <a:off x="6507328" y="530352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A class-conditioned synthetic generator with the same file interface as real data.</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Three classes, three signatures</a:t>
            </a:r>
            <a:endParaRPr lang="en-US" sz="3600" dirty="0"/>
          </a:p>
        </p:txBody>
      </p:sp>
      <p:sp>
        <p:nvSpPr>
          <p:cNvPr id="3" name="class Healthy Control"/>
          <p:cNvSpPr/>
          <p:nvPr/>
        </p:nvSpPr>
        <p:spPr>
          <a:xfrm>
            <a:off x="548640" y="1371600"/>
            <a:ext cx="3515258" cy="4160520"/>
          </a:xfrm>
          <a:prstGeom prst="roundRect">
            <a:avLst>
              <a:gd name="adj" fmla="val 2601"/>
            </a:avLst>
          </a:prstGeom>
          <a:solidFill>
            <a:schemeClr val="bg1"/>
          </a:solidFill>
          <a:ln/>
          <a:effectLst>
            <a:outerShdw sx="100000" sy="100000" kx="0" ky="0" algn="bl" rotWithShape="0" blurRad="101600" dist="25400" dir="5400000">
              <a:srgbClr val="12232B">
                <a:alpha val="12000"/>
              </a:srgbClr>
            </a:outerShdw>
          </a:effectLst>
        </p:spPr>
      </p:sp>
      <p:sp>
        <p:nvSpPr>
          <p:cNvPr id="4" name="Healthy Control badge"/>
          <p:cNvSpPr/>
          <p:nvPr/>
        </p:nvSpPr>
        <p:spPr>
          <a:xfrm>
            <a:off x="822960" y="1645920"/>
            <a:ext cx="640080" cy="640080"/>
          </a:xfrm>
          <a:prstGeom prst="ellipse">
            <a:avLst/>
          </a:prstGeom>
          <a:solidFill>
            <a:schemeClr val="accent4"/>
          </a:solidFill>
          <a:ln/>
        </p:spPr>
      </p:sp>
      <p:pic>
        <p:nvPicPr>
          <p:cNvPr id="5" name="Healthy Control icon" descr="Healthy Control">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645920"/>
            <a:ext cx="2189378"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Healthy Control</a:t>
            </a:r>
            <a:endParaRPr lang="en-US" sz="2000" dirty="0"/>
          </a:p>
        </p:txBody>
      </p:sp>
      <p:sp>
        <p:nvSpPr>
          <p:cNvPr id="7" name="Text 4"/>
          <p:cNvSpPr txBox="1"/>
          <p:nvPr/>
        </p:nvSpPr>
        <p:spPr>
          <a:xfrm>
            <a:off x="822960" y="2560320"/>
            <a:ext cx="2966618" cy="914400"/>
          </a:xfrm>
          <a:prstGeom prst="rect">
            <a:avLst/>
          </a:prstGeom>
          <a:noFill/>
          <a:ln/>
        </p:spPr>
        <p:txBody>
          <a:bodyPr wrap="square" lIns="0" tIns="0" rIns="0" bIns="0" rtlCol="0" anchor="ctr"/>
          <a:lstStyle/>
          <a:p>
            <a:pPr indent="0" marL="0">
              <a:buNone/>
            </a:pPr>
            <a:r>
              <a:rPr lang="en-US" sz="5400" b="1" dirty="0">
                <a:solidFill>
                  <a:schemeClr val="accent4"/>
                </a:solidFill>
                <a:latin typeface="Cambria" pitchFamily="34" charset="0"/>
                <a:ea typeface="Cambria" pitchFamily="34" charset="-122"/>
                <a:cs typeface="Cambria" pitchFamily="34" charset="-120"/>
              </a:rPr>
              <a:t>100 ms</a:t>
            </a:r>
            <a:endParaRPr lang="en-US" sz="5400" dirty="0"/>
          </a:p>
        </p:txBody>
      </p:sp>
      <p:sp>
        <p:nvSpPr>
          <p:cNvPr id="8" name="Text 5"/>
          <p:cNvSpPr txBox="1"/>
          <p:nvPr/>
        </p:nvSpPr>
        <p:spPr>
          <a:xfrm>
            <a:off x="822960" y="3474720"/>
            <a:ext cx="2966618"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P100 latency</a:t>
            </a:r>
            <a:endParaRPr lang="en-US" sz="1400" dirty="0"/>
          </a:p>
        </p:txBody>
      </p:sp>
      <p:sp>
        <p:nvSpPr>
          <p:cNvPr id="9" name="Text 6"/>
          <p:cNvSpPr txBox="1"/>
          <p:nvPr/>
        </p:nvSpPr>
        <p:spPr>
          <a:xfrm>
            <a:off x="822960" y="4023360"/>
            <a:ext cx="2966618" cy="12801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No volume change in the MRI block; strong P100 (amplitude 6.0).</a:t>
            </a:r>
            <a:endParaRPr lang="en-US" sz="1600" dirty="0"/>
          </a:p>
        </p:txBody>
      </p:sp>
      <p:sp>
        <p:nvSpPr>
          <p:cNvPr id="10" name="class Glaucoma"/>
          <p:cNvSpPr/>
          <p:nvPr/>
        </p:nvSpPr>
        <p:spPr>
          <a:xfrm>
            <a:off x="4338218" y="1371600"/>
            <a:ext cx="3515258" cy="4160520"/>
          </a:xfrm>
          <a:prstGeom prst="roundRect">
            <a:avLst>
              <a:gd name="adj" fmla="val 2601"/>
            </a:avLst>
          </a:prstGeom>
          <a:solidFill>
            <a:schemeClr val="bg1"/>
          </a:solidFill>
          <a:ln/>
          <a:effectLst>
            <a:outerShdw sx="100000" sy="100000" kx="0" ky="0" algn="bl" rotWithShape="0" blurRad="101600" dist="25400" dir="5400000">
              <a:srgbClr val="12232B">
                <a:alpha val="12000"/>
              </a:srgbClr>
            </a:outerShdw>
          </a:effectLst>
        </p:spPr>
      </p:sp>
      <p:sp>
        <p:nvSpPr>
          <p:cNvPr id="11" name="Glaucoma badge"/>
          <p:cNvSpPr/>
          <p:nvPr/>
        </p:nvSpPr>
        <p:spPr>
          <a:xfrm>
            <a:off x="4612538" y="1645920"/>
            <a:ext cx="640080" cy="640080"/>
          </a:xfrm>
          <a:prstGeom prst="ellipse">
            <a:avLst/>
          </a:prstGeom>
          <a:solidFill>
            <a:schemeClr val="accent2"/>
          </a:solidFill>
          <a:ln/>
        </p:spPr>
      </p:sp>
      <p:pic>
        <p:nvPicPr>
          <p:cNvPr id="12" name="Glaucoma icon" descr="Glaucoma">    </p:cNvPr>
          <p:cNvPicPr>
            <a:picLocks noChangeAspect="1"/>
          </p:cNvPicPr>
          <p:nvPr/>
        </p:nvPicPr>
        <p:blipFill>
          <a:blip r:embed="rId2"/>
          <a:stretch>
            <a:fillRect/>
          </a:stretch>
        </p:blipFill>
        <p:spPr>
          <a:xfrm>
            <a:off x="4772558" y="1805940"/>
            <a:ext cx="320040" cy="320040"/>
          </a:xfrm>
          <a:prstGeom prst="rect">
            <a:avLst/>
          </a:prstGeom>
        </p:spPr>
      </p:pic>
      <p:sp>
        <p:nvSpPr>
          <p:cNvPr id="13" name="Text 9"/>
          <p:cNvSpPr txBox="1"/>
          <p:nvPr/>
        </p:nvSpPr>
        <p:spPr>
          <a:xfrm>
            <a:off x="5435498" y="1645920"/>
            <a:ext cx="2189378"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Glaucoma</a:t>
            </a:r>
            <a:endParaRPr lang="en-US" sz="2000" dirty="0"/>
          </a:p>
        </p:txBody>
      </p:sp>
      <p:sp>
        <p:nvSpPr>
          <p:cNvPr id="14" name="Text 10"/>
          <p:cNvSpPr txBox="1"/>
          <p:nvPr/>
        </p:nvSpPr>
        <p:spPr>
          <a:xfrm>
            <a:off x="4612538" y="2560320"/>
            <a:ext cx="2966618" cy="91440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108 ms</a:t>
            </a:r>
            <a:endParaRPr lang="en-US" sz="5400" dirty="0"/>
          </a:p>
        </p:txBody>
      </p:sp>
      <p:sp>
        <p:nvSpPr>
          <p:cNvPr id="15" name="Text 11"/>
          <p:cNvSpPr txBox="1"/>
          <p:nvPr/>
        </p:nvSpPr>
        <p:spPr>
          <a:xfrm>
            <a:off x="4612538" y="3474720"/>
            <a:ext cx="2966618"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P100 latency</a:t>
            </a:r>
            <a:endParaRPr lang="en-US" sz="1400" dirty="0"/>
          </a:p>
        </p:txBody>
      </p:sp>
      <p:sp>
        <p:nvSpPr>
          <p:cNvPr id="16" name="Text 12"/>
          <p:cNvSpPr txBox="1"/>
          <p:nvPr/>
        </p:nvSpPr>
        <p:spPr>
          <a:xfrm>
            <a:off x="4612538" y="4023360"/>
            <a:ext cx="2966618" cy="12801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Atrophy proxy: an octant block of the volume scaled ×0.4; P100 amplitude 2.5.</a:t>
            </a:r>
            <a:endParaRPr lang="en-US" sz="1600" dirty="0"/>
          </a:p>
        </p:txBody>
      </p:sp>
      <p:sp>
        <p:nvSpPr>
          <p:cNvPr id="17" name="class Optic Neuritis / CVI"/>
          <p:cNvSpPr/>
          <p:nvPr/>
        </p:nvSpPr>
        <p:spPr>
          <a:xfrm>
            <a:off x="8127797" y="1371600"/>
            <a:ext cx="3515258" cy="4160520"/>
          </a:xfrm>
          <a:prstGeom prst="roundRect">
            <a:avLst>
              <a:gd name="adj" fmla="val 2601"/>
            </a:avLst>
          </a:prstGeom>
          <a:solidFill>
            <a:schemeClr val="bg1"/>
          </a:solidFill>
          <a:ln/>
          <a:effectLst>
            <a:outerShdw sx="100000" sy="100000" kx="0" ky="0" algn="bl" rotWithShape="0" blurRad="101600" dist="25400" dir="5400000">
              <a:srgbClr val="12232B">
                <a:alpha val="12000"/>
              </a:srgbClr>
            </a:outerShdw>
          </a:effectLst>
        </p:spPr>
      </p:sp>
      <p:sp>
        <p:nvSpPr>
          <p:cNvPr id="18" name="Optic Neuritis / CVI badge"/>
          <p:cNvSpPr/>
          <p:nvPr/>
        </p:nvSpPr>
        <p:spPr>
          <a:xfrm>
            <a:off x="8402117" y="1645920"/>
            <a:ext cx="640080" cy="640080"/>
          </a:xfrm>
          <a:prstGeom prst="ellipse">
            <a:avLst/>
          </a:prstGeom>
          <a:solidFill>
            <a:schemeClr val="accent3"/>
          </a:solidFill>
          <a:ln/>
        </p:spPr>
      </p:sp>
      <p:pic>
        <p:nvPicPr>
          <p:cNvPr id="19" name="Optic Neuritis / CVI icon" descr="Optic Neuritis / CVI">    </p:cNvPr>
          <p:cNvPicPr>
            <a:picLocks noChangeAspect="1"/>
          </p:cNvPicPr>
          <p:nvPr/>
        </p:nvPicPr>
        <p:blipFill>
          <a:blip r:embed="rId3"/>
          <a:stretch>
            <a:fillRect/>
          </a:stretch>
        </p:blipFill>
        <p:spPr>
          <a:xfrm>
            <a:off x="8562137" y="1805940"/>
            <a:ext cx="320040" cy="320040"/>
          </a:xfrm>
          <a:prstGeom prst="rect">
            <a:avLst/>
          </a:prstGeom>
        </p:spPr>
      </p:pic>
      <p:sp>
        <p:nvSpPr>
          <p:cNvPr id="20" name="Text 15"/>
          <p:cNvSpPr txBox="1"/>
          <p:nvPr/>
        </p:nvSpPr>
        <p:spPr>
          <a:xfrm>
            <a:off x="9225077" y="1645920"/>
            <a:ext cx="2189378"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Optic Neuritis / CVI</a:t>
            </a:r>
            <a:endParaRPr lang="en-US" sz="2000" dirty="0"/>
          </a:p>
        </p:txBody>
      </p:sp>
      <p:sp>
        <p:nvSpPr>
          <p:cNvPr id="21" name="Text 16"/>
          <p:cNvSpPr txBox="1"/>
          <p:nvPr/>
        </p:nvSpPr>
        <p:spPr>
          <a:xfrm>
            <a:off x="8402117" y="2560320"/>
            <a:ext cx="2966618"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140 ms</a:t>
            </a:r>
            <a:endParaRPr lang="en-US" sz="5400" dirty="0"/>
          </a:p>
        </p:txBody>
      </p:sp>
      <p:sp>
        <p:nvSpPr>
          <p:cNvPr id="22" name="Text 17"/>
          <p:cNvSpPr txBox="1"/>
          <p:nvPr/>
        </p:nvSpPr>
        <p:spPr>
          <a:xfrm>
            <a:off x="8402117" y="3474720"/>
            <a:ext cx="2966618"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P100 latency</a:t>
            </a:r>
            <a:endParaRPr lang="en-US" sz="1400" dirty="0"/>
          </a:p>
        </p:txBody>
      </p:sp>
      <p:sp>
        <p:nvSpPr>
          <p:cNvPr id="23" name="Text 18"/>
          <p:cNvSpPr txBox="1"/>
          <p:nvPr/>
        </p:nvSpPr>
        <p:spPr>
          <a:xfrm>
            <a:off x="8402117" y="4023360"/>
            <a:ext cx="2966618" cy="12801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Lesion proxy: a block scaled ×1.8; delayed P100, amplitude 4.0.</a:t>
            </a:r>
            <a:endParaRPr lang="en-US" sz="1600" dirty="0"/>
          </a:p>
        </p:txBody>
      </p:sp>
      <p:sp>
        <p:nvSpPr>
          <p:cNvPr id="24" name="Text 19"/>
          <p:cNvSpPr txBox="1"/>
          <p:nvPr/>
        </p:nvSpPr>
        <p:spPr>
          <a:xfrm>
            <a:off x="548640" y="5715000"/>
            <a:ext cx="11094415" cy="50292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Values are the synthetic generator's settings, chosen to follow the clinical pattern of delayed P100 in optic neuritis; they are not measurements from patients.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Two streams, one fusion module</a:t>
            </a:r>
            <a:endParaRPr lang="en-US" sz="3600" dirty="0"/>
          </a:p>
        </p:txBody>
      </p:sp>
      <p:sp>
        <p:nvSpPr>
          <p:cNvPr id="3" name="fig_pipeline card"/>
          <p:cNvSpPr/>
          <p:nvPr/>
        </p:nvSpPr>
        <p:spPr>
          <a:xfrm>
            <a:off x="548640" y="1325880"/>
            <a:ext cx="7635240"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sp>
      <p:pic>
        <p:nvPicPr>
          <p:cNvPr id="4" name="fig_pipeline" descr="fig pipeline">    </p:cNvPr>
          <p:cNvPicPr>
            <a:picLocks noChangeAspect="1"/>
          </p:cNvPicPr>
          <p:nvPr/>
        </p:nvPicPr>
        <p:blipFill>
          <a:blip r:embed="rId1"/>
          <a:stretch>
            <a:fillRect/>
          </a:stretch>
        </p:blipFill>
        <p:spPr>
          <a:xfrm>
            <a:off x="706265" y="1463040"/>
            <a:ext cx="7319989" cy="4617720"/>
          </a:xfrm>
          <a:prstGeom prst="rect">
            <a:avLst/>
          </a:prstGeom>
        </p:spPr>
      </p:pic>
      <p:sp>
        <p:nvSpPr>
          <p:cNvPr id="5" name="pipeline note 1"/>
          <p:cNvSpPr/>
          <p:nvPr/>
        </p:nvSpPr>
        <p:spPr>
          <a:xfrm>
            <a:off x="8458200" y="1325880"/>
            <a:ext cx="3184855" cy="1536192"/>
          </a:xfrm>
          <a:prstGeom prst="roundRect">
            <a:avLst>
              <a:gd name="adj" fmla="val 5952"/>
            </a:avLst>
          </a:prstGeom>
          <a:solidFill>
            <a:schemeClr val="bg1"/>
          </a:solidFill>
          <a:ln/>
          <a:effectLst>
            <a:outerShdw sx="100000" sy="100000" kx="0" ky="0" algn="bl" rotWithShape="0" blurRad="101600" dist="25400" dir="5400000">
              <a:srgbClr val="12232B">
                <a:alpha val="12000"/>
              </a:srgbClr>
            </a:outerShdw>
          </a:effectLst>
        </p:spPr>
      </p:sp>
      <p:sp>
        <p:nvSpPr>
          <p:cNvPr id="6" name="Queries badge"/>
          <p:cNvSpPr/>
          <p:nvPr/>
        </p:nvSpPr>
        <p:spPr>
          <a:xfrm>
            <a:off x="8659368" y="1527048"/>
            <a:ext cx="502920" cy="502920"/>
          </a:xfrm>
          <a:prstGeom prst="ellipse">
            <a:avLst/>
          </a:prstGeom>
          <a:solidFill>
            <a:schemeClr val="accent3"/>
          </a:solidFill>
          <a:ln/>
        </p:spPr>
      </p:sp>
      <p:pic>
        <p:nvPicPr>
          <p:cNvPr id="7" name="Queries icon" descr="Queries">    </p:cNvPr>
          <p:cNvPicPr>
            <a:picLocks noChangeAspect="1"/>
          </p:cNvPicPr>
          <p:nvPr/>
        </p:nvPicPr>
        <p:blipFill>
          <a:blip r:embed="rId2"/>
          <a:stretch>
            <a:fillRect/>
          </a:stretch>
        </p:blipFill>
        <p:spPr>
          <a:xfrm>
            <a:off x="8785098" y="1652778"/>
            <a:ext cx="251460" cy="251460"/>
          </a:xfrm>
          <a:prstGeom prst="rect">
            <a:avLst/>
          </a:prstGeom>
        </p:spPr>
      </p:pic>
      <p:sp>
        <p:nvSpPr>
          <p:cNvPr id="8" name="Text 4"/>
          <p:cNvSpPr txBox="1"/>
          <p:nvPr/>
        </p:nvSpPr>
        <p:spPr>
          <a:xfrm>
            <a:off x="9326880" y="1527048"/>
            <a:ext cx="213329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Queries</a:t>
            </a:r>
            <a:endParaRPr lang="en-US" sz="1800" dirty="0"/>
          </a:p>
        </p:txBody>
      </p:sp>
      <p:sp>
        <p:nvSpPr>
          <p:cNvPr id="9" name="Text 5"/>
          <p:cNvSpPr txBox="1"/>
          <p:nvPr/>
        </p:nvSpPr>
        <p:spPr>
          <a:xfrm>
            <a:off x="8659368" y="2167128"/>
            <a:ext cx="2782519"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64 spatial tokens from the 3D residual CNN</a:t>
            </a:r>
            <a:endParaRPr lang="en-US" sz="1400" dirty="0"/>
          </a:p>
        </p:txBody>
      </p:sp>
      <p:sp>
        <p:nvSpPr>
          <p:cNvPr id="10" name="pipeline note 2"/>
          <p:cNvSpPr/>
          <p:nvPr/>
        </p:nvSpPr>
        <p:spPr>
          <a:xfrm>
            <a:off x="8458200" y="2990088"/>
            <a:ext cx="3184855" cy="1536192"/>
          </a:xfrm>
          <a:prstGeom prst="roundRect">
            <a:avLst>
              <a:gd name="adj" fmla="val 5952"/>
            </a:avLst>
          </a:prstGeom>
          <a:solidFill>
            <a:schemeClr val="bg1"/>
          </a:solidFill>
          <a:ln/>
          <a:effectLst>
            <a:outerShdw sx="100000" sy="100000" kx="0" ky="0" algn="bl" rotWithShape="0" blurRad="101600" dist="25400" dir="5400000">
              <a:srgbClr val="12232B">
                <a:alpha val="12000"/>
              </a:srgbClr>
            </a:outerShdw>
          </a:effectLst>
        </p:spPr>
      </p:sp>
      <p:sp>
        <p:nvSpPr>
          <p:cNvPr id="11" name="Keys and values badge"/>
          <p:cNvSpPr/>
          <p:nvPr/>
        </p:nvSpPr>
        <p:spPr>
          <a:xfrm>
            <a:off x="8659368" y="3191256"/>
            <a:ext cx="502920" cy="502920"/>
          </a:xfrm>
          <a:prstGeom prst="ellipse">
            <a:avLst/>
          </a:prstGeom>
          <a:solidFill>
            <a:schemeClr val="accent2"/>
          </a:solidFill>
          <a:ln/>
        </p:spPr>
      </p:sp>
      <p:pic>
        <p:nvPicPr>
          <p:cNvPr id="12" name="Keys and values icon" descr="Keys and values">    </p:cNvPr>
          <p:cNvPicPr>
            <a:picLocks noChangeAspect="1"/>
          </p:cNvPicPr>
          <p:nvPr/>
        </p:nvPicPr>
        <p:blipFill>
          <a:blip r:embed="rId3"/>
          <a:stretch>
            <a:fillRect/>
          </a:stretch>
        </p:blipFill>
        <p:spPr>
          <a:xfrm>
            <a:off x="8785098" y="3316986"/>
            <a:ext cx="251460" cy="251460"/>
          </a:xfrm>
          <a:prstGeom prst="rect">
            <a:avLst/>
          </a:prstGeom>
        </p:spPr>
      </p:pic>
      <p:sp>
        <p:nvSpPr>
          <p:cNvPr id="13" name="Text 8"/>
          <p:cNvSpPr txBox="1"/>
          <p:nvPr/>
        </p:nvSpPr>
        <p:spPr>
          <a:xfrm>
            <a:off x="9326880" y="3191256"/>
            <a:ext cx="213329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Keys and values</a:t>
            </a:r>
            <a:endParaRPr lang="en-US" sz="1800" dirty="0"/>
          </a:p>
        </p:txBody>
      </p:sp>
      <p:sp>
        <p:nvSpPr>
          <p:cNvPr id="14" name="Text 9"/>
          <p:cNvSpPr txBox="1"/>
          <p:nvPr/>
        </p:nvSpPr>
        <p:spPr>
          <a:xfrm>
            <a:off x="8659368" y="3831336"/>
            <a:ext cx="2782519"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16 temporal tokens from the 1D CNN</a:t>
            </a:r>
            <a:endParaRPr lang="en-US" sz="1400" dirty="0"/>
          </a:p>
        </p:txBody>
      </p:sp>
      <p:sp>
        <p:nvSpPr>
          <p:cNvPr id="15" name="pipeline note 3"/>
          <p:cNvSpPr/>
          <p:nvPr/>
        </p:nvSpPr>
        <p:spPr>
          <a:xfrm>
            <a:off x="8458200" y="4654296"/>
            <a:ext cx="3184855" cy="1536192"/>
          </a:xfrm>
          <a:prstGeom prst="roundRect">
            <a:avLst>
              <a:gd name="adj" fmla="val 5952"/>
            </a:avLst>
          </a:prstGeom>
          <a:solidFill>
            <a:schemeClr val="bg1"/>
          </a:solidFill>
          <a:ln/>
          <a:effectLst>
            <a:outerShdw sx="100000" sy="100000" kx="0" ky="0" algn="bl" rotWithShape="0" blurRad="101600" dist="25400" dir="5400000">
              <a:srgbClr val="12232B">
                <a:alpha val="12000"/>
              </a:srgbClr>
            </a:outerShdw>
          </a:effectLst>
        </p:spPr>
      </p:sp>
      <p:sp>
        <p:nvSpPr>
          <p:cNvPr id="16" name="Three heads badge"/>
          <p:cNvSpPr/>
          <p:nvPr/>
        </p:nvSpPr>
        <p:spPr>
          <a:xfrm>
            <a:off x="8659368" y="4855464"/>
            <a:ext cx="502920" cy="502920"/>
          </a:xfrm>
          <a:prstGeom prst="ellipse">
            <a:avLst/>
          </a:prstGeom>
          <a:solidFill>
            <a:schemeClr val="accent4"/>
          </a:solidFill>
          <a:ln/>
        </p:spPr>
      </p:sp>
      <p:pic>
        <p:nvPicPr>
          <p:cNvPr id="17" name="Three heads icon" descr="Three heads">    </p:cNvPr>
          <p:cNvPicPr>
            <a:picLocks noChangeAspect="1"/>
          </p:cNvPicPr>
          <p:nvPr/>
        </p:nvPicPr>
        <p:blipFill>
          <a:blip r:embed="rId4"/>
          <a:stretch>
            <a:fillRect/>
          </a:stretch>
        </p:blipFill>
        <p:spPr>
          <a:xfrm>
            <a:off x="8785098" y="4981194"/>
            <a:ext cx="251460" cy="251460"/>
          </a:xfrm>
          <a:prstGeom prst="rect">
            <a:avLst/>
          </a:prstGeom>
        </p:spPr>
      </p:pic>
      <p:sp>
        <p:nvSpPr>
          <p:cNvPr id="18" name="Text 12"/>
          <p:cNvSpPr txBox="1"/>
          <p:nvPr/>
        </p:nvSpPr>
        <p:spPr>
          <a:xfrm>
            <a:off x="9326880" y="4855464"/>
            <a:ext cx="213329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Three heads</a:t>
            </a:r>
            <a:endParaRPr lang="en-US" sz="1800" dirty="0"/>
          </a:p>
        </p:txBody>
      </p:sp>
      <p:sp>
        <p:nvSpPr>
          <p:cNvPr id="19" name="Text 13"/>
          <p:cNvSpPr txBox="1"/>
          <p:nvPr/>
        </p:nvSpPr>
        <p:spPr>
          <a:xfrm>
            <a:off x="8659368" y="5495544"/>
            <a:ext cx="2782519"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Fused (primary) plus two auxiliary unimodal heads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Each signal is brought to a fixed shape</a:t>
            </a:r>
            <a:endParaRPr lang="en-US" sz="3600" dirty="0"/>
          </a:p>
        </p:txBody>
      </p:sp>
      <p:sp>
        <p:nvSpPr>
          <p:cNvPr id="3" name="fig_preprocessing card"/>
          <p:cNvSpPr/>
          <p:nvPr/>
        </p:nvSpPr>
        <p:spPr>
          <a:xfrm>
            <a:off x="548640" y="1325880"/>
            <a:ext cx="11094415" cy="4526280"/>
          </a:xfrm>
          <a:prstGeom prst="roundRect">
            <a:avLst>
              <a:gd name="adj" fmla="val 2020"/>
            </a:avLst>
          </a:prstGeom>
          <a:solidFill>
            <a:schemeClr val="bg1"/>
          </a:solidFill>
          <a:ln/>
          <a:effectLst>
            <a:outerShdw sx="100000" sy="100000" kx="0" ky="0" algn="bl" rotWithShape="0" blurRad="101600" dist="25400" dir="5400000">
              <a:srgbClr val="12232B">
                <a:alpha val="12000"/>
              </a:srgbClr>
            </a:outerShdw>
          </a:effectLst>
        </p:spPr>
      </p:sp>
      <p:pic>
        <p:nvPicPr>
          <p:cNvPr id="4" name="fig_preprocessing" descr="fig preprocessing">    </p:cNvPr>
          <p:cNvPicPr>
            <a:picLocks noChangeAspect="1"/>
          </p:cNvPicPr>
          <p:nvPr/>
        </p:nvPicPr>
        <p:blipFill>
          <a:blip r:embed="rId1"/>
          <a:stretch>
            <a:fillRect/>
          </a:stretch>
        </p:blipFill>
        <p:spPr>
          <a:xfrm>
            <a:off x="1151201" y="1463040"/>
            <a:ext cx="9889292" cy="4251960"/>
          </a:xfrm>
          <a:prstGeom prst="rect">
            <a:avLst/>
          </a:prstGeom>
        </p:spPr>
      </p:pic>
      <p:sp>
        <p:nvSpPr>
          <p:cNvPr id="5" name="Text 2"/>
          <p:cNvSpPr txBox="1"/>
          <p:nvPr/>
        </p:nvSpPr>
        <p:spPr>
          <a:xfrm>
            <a:off x="548640" y="5943600"/>
            <a:ext cx="11094415" cy="36576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Output tensors  </a:t>
            </a:r>
            <a:pPr indent="0" marL="0">
              <a:buNone/>
            </a:pPr>
            <a:r>
              <a:rPr lang="en-US" sz="1400" dirty="0">
                <a:solidFill>
                  <a:schemeClr val="tx2"/>
                </a:solidFill>
                <a:latin typeface="Calibri" pitchFamily="34" charset="0"/>
                <a:ea typeface="Calibri" pitchFamily="34" charset="-122"/>
                <a:cs typeface="Calibri" pitchFamily="34" charset="-120"/>
              </a:rPr>
              <a:t>MRI (1, 64, 64, 64)   ·   VEP (1, 500)   ·   the 60th-percentile foreground mask is a placeholder, not skull-stripping</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Zero-phase filtering keeps P100 in place</a:t>
            </a:r>
            <a:endParaRPr lang="en-US" sz="3600" dirty="0"/>
          </a:p>
        </p:txBody>
      </p:sp>
      <p:sp>
        <p:nvSpPr>
          <p:cNvPr id="3" name="fig_filter_wide card"/>
          <p:cNvSpPr/>
          <p:nvPr/>
        </p:nvSpPr>
        <p:spPr>
          <a:xfrm>
            <a:off x="548640" y="1325880"/>
            <a:ext cx="6903720" cy="4206240"/>
          </a:xfrm>
          <a:prstGeom prst="roundRect">
            <a:avLst>
              <a:gd name="adj" fmla="val 2174"/>
            </a:avLst>
          </a:prstGeom>
          <a:solidFill>
            <a:schemeClr val="bg1"/>
          </a:solidFill>
          <a:ln/>
          <a:effectLst>
            <a:outerShdw sx="100000" sy="100000" kx="0" ky="0" algn="bl" rotWithShape="0" blurRad="101600" dist="25400" dir="5400000">
              <a:srgbClr val="12232B">
                <a:alpha val="12000"/>
              </a:srgbClr>
            </a:outerShdw>
          </a:effectLst>
        </p:spPr>
      </p:sp>
      <p:pic>
        <p:nvPicPr>
          <p:cNvPr id="4" name="fig_filter_wide" descr="fig filter wide">    </p:cNvPr>
          <p:cNvPicPr>
            <a:picLocks noChangeAspect="1"/>
          </p:cNvPicPr>
          <p:nvPr/>
        </p:nvPicPr>
        <p:blipFill>
          <a:blip r:embed="rId1"/>
          <a:stretch>
            <a:fillRect/>
          </a:stretch>
        </p:blipFill>
        <p:spPr>
          <a:xfrm>
            <a:off x="1003802" y="1463040"/>
            <a:ext cx="5993395" cy="3364992"/>
          </a:xfrm>
          <a:prstGeom prst="rect">
            <a:avLst/>
          </a:prstGeom>
        </p:spPr>
      </p:pic>
      <p:sp>
        <p:nvSpPr>
          <p:cNvPr id="5" name="Text 2"/>
          <p:cNvSpPr txBox="1"/>
          <p:nvPr/>
        </p:nvSpPr>
        <p:spPr>
          <a:xfrm>
            <a:off x="731520" y="4919472"/>
            <a:ext cx="653796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Effective forward–backward response: 1–100 Hz Butterworth band-pass plus a 50 Hz notch (Q = 30).</a:t>
            </a:r>
            <a:endParaRPr lang="en-US" sz="1200" dirty="0"/>
          </a:p>
        </p:txBody>
      </p:sp>
      <p:sp>
        <p:nvSpPr>
          <p:cNvPr id="6" name="stat −97 dB"/>
          <p:cNvSpPr/>
          <p:nvPr/>
        </p:nvSpPr>
        <p:spPr>
          <a:xfrm>
            <a:off x="7726680" y="1325880"/>
            <a:ext cx="3916375"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sp>
      <p:sp>
        <p:nvSpPr>
          <p:cNvPr id="7" name="Text 4"/>
          <p:cNvSpPr txBox="1"/>
          <p:nvPr/>
        </p:nvSpPr>
        <p:spPr>
          <a:xfrm>
            <a:off x="7955280" y="1458468"/>
            <a:ext cx="3459175" cy="5943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−97 dB</a:t>
            </a:r>
            <a:endParaRPr lang="en-US" sz="3600" dirty="0"/>
          </a:p>
        </p:txBody>
      </p:sp>
      <p:sp>
        <p:nvSpPr>
          <p:cNvPr id="8" name="Text 5"/>
          <p:cNvSpPr txBox="1"/>
          <p:nvPr/>
        </p:nvSpPr>
        <p:spPr>
          <a:xfrm>
            <a:off x="7955280" y="2107692"/>
            <a:ext cx="345917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response at 50 Hz in the ideal forward–backward chain</a:t>
            </a:r>
            <a:endParaRPr lang="en-US" sz="1400" dirty="0"/>
          </a:p>
        </p:txBody>
      </p:sp>
      <p:sp>
        <p:nvSpPr>
          <p:cNvPr id="9" name="stat 22 dB"/>
          <p:cNvSpPr/>
          <p:nvPr/>
        </p:nvSpPr>
        <p:spPr>
          <a:xfrm>
            <a:off x="7726680" y="2834640"/>
            <a:ext cx="3916375"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sp>
      <p:sp>
        <p:nvSpPr>
          <p:cNvPr id="10" name="Text 7"/>
          <p:cNvSpPr txBox="1"/>
          <p:nvPr/>
        </p:nvSpPr>
        <p:spPr>
          <a:xfrm>
            <a:off x="7955280" y="2967228"/>
            <a:ext cx="3459175"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22 dB</a:t>
            </a:r>
            <a:endParaRPr lang="en-US" sz="3600" dirty="0"/>
          </a:p>
        </p:txBody>
      </p:sp>
      <p:sp>
        <p:nvSpPr>
          <p:cNvPr id="11" name="Text 8"/>
          <p:cNvSpPr txBox="1"/>
          <p:nvPr/>
        </p:nvSpPr>
        <p:spPr>
          <a:xfrm>
            <a:off x="7955280" y="3616452"/>
            <a:ext cx="345917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measured mains reduction over 150 records (0.152 → 0.0125)</a:t>
            </a:r>
            <a:endParaRPr lang="en-US" sz="1400" dirty="0"/>
          </a:p>
        </p:txBody>
      </p:sp>
      <p:sp>
        <p:nvSpPr>
          <p:cNvPr id="12" name="stat 49.18–50.83 Hz"/>
          <p:cNvSpPr/>
          <p:nvPr/>
        </p:nvSpPr>
        <p:spPr>
          <a:xfrm>
            <a:off x="7726680" y="4343400"/>
            <a:ext cx="3916375" cy="1188720"/>
          </a:xfrm>
          <a:prstGeom prst="roundRect">
            <a:avLst>
              <a:gd name="adj" fmla="val 7692"/>
            </a:avLst>
          </a:prstGeom>
          <a:solidFill>
            <a:schemeClr val="bg1"/>
          </a:solidFill>
          <a:ln/>
          <a:effectLst>
            <a:outerShdw sx="100000" sy="100000" kx="0" ky="0" algn="bl" rotWithShape="0" blurRad="101600" dist="25400" dir="5400000">
              <a:srgbClr val="12232B">
                <a:alpha val="12000"/>
              </a:srgbClr>
            </a:outerShdw>
          </a:effectLst>
        </p:spPr>
      </p:sp>
      <p:sp>
        <p:nvSpPr>
          <p:cNvPr id="13" name="Text 10"/>
          <p:cNvSpPr txBox="1"/>
          <p:nvPr/>
        </p:nvSpPr>
        <p:spPr>
          <a:xfrm>
            <a:off x="7955280" y="4564888"/>
            <a:ext cx="3459175" cy="46228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49.18–50.83 Hz</a:t>
            </a:r>
            <a:endParaRPr lang="en-US" sz="2800" dirty="0"/>
          </a:p>
        </p:txBody>
      </p:sp>
      <p:sp>
        <p:nvSpPr>
          <p:cNvPr id="14" name="Text 11"/>
          <p:cNvSpPr txBox="1"/>
          <p:nvPr/>
        </p:nvSpPr>
        <p:spPr>
          <a:xfrm>
            <a:off x="7955280" y="5082032"/>
            <a:ext cx="3459175"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−6 dB notch band (width 1.65 Hz)</a:t>
            </a:r>
            <a:endParaRPr lang="en-US" sz="1400" dirty="0"/>
          </a:p>
        </p:txBody>
      </p:sp>
      <p:sp>
        <p:nvSpPr>
          <p:cNvPr id="15" name="Text 12"/>
          <p:cNvSpPr txBox="1"/>
          <p:nvPr/>
        </p:nvSpPr>
        <p:spPr>
          <a:xfrm>
            <a:off x="548640" y="5715000"/>
            <a:ext cx="11094415" cy="50292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The 22 dB figure is limited by the noise floor (0.0212 at 47 Hz), so it is a lower bound on the notch's attenuation.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 1.06 M-parameter two-stream network</a:t>
            </a:r>
            <a:endParaRPr lang="en-US" sz="3600" dirty="0"/>
          </a:p>
        </p:txBody>
      </p:sp>
      <p:sp>
        <p:nvSpPr>
          <p:cNvPr id="3" name="fig_architecture card"/>
          <p:cNvSpPr/>
          <p:nvPr/>
        </p:nvSpPr>
        <p:spPr>
          <a:xfrm>
            <a:off x="548640" y="1325880"/>
            <a:ext cx="4160520" cy="4892040"/>
          </a:xfrm>
          <a:prstGeom prst="roundRect">
            <a:avLst>
              <a:gd name="adj" fmla="val 2198"/>
            </a:avLst>
          </a:prstGeom>
          <a:solidFill>
            <a:schemeClr val="bg1"/>
          </a:solidFill>
          <a:ln/>
          <a:effectLst>
            <a:outerShdw sx="100000" sy="100000" kx="0" ky="0" algn="bl" rotWithShape="0" blurRad="101600" dist="25400" dir="5400000">
              <a:srgbClr val="12232B">
                <a:alpha val="12000"/>
              </a:srgbClr>
            </a:outerShdw>
          </a:effectLst>
        </p:spPr>
      </p:sp>
      <p:pic>
        <p:nvPicPr>
          <p:cNvPr id="4" name="fig_architecture" descr="fig architecture">    </p:cNvPr>
          <p:cNvPicPr>
            <a:picLocks noChangeAspect="1"/>
          </p:cNvPicPr>
          <p:nvPr/>
        </p:nvPicPr>
        <p:blipFill>
          <a:blip r:embed="rId1"/>
          <a:stretch>
            <a:fillRect/>
          </a:stretch>
        </p:blipFill>
        <p:spPr>
          <a:xfrm>
            <a:off x="797229" y="1463040"/>
            <a:ext cx="3663342" cy="4617720"/>
          </a:xfrm>
          <a:prstGeom prst="rect">
            <a:avLst/>
          </a:prstGeom>
        </p:spPr>
      </p:pic>
      <p:sp>
        <p:nvSpPr>
          <p:cNvPr id="5" name="component 3D residual CNN (MRI)"/>
          <p:cNvSpPr/>
          <p:nvPr/>
        </p:nvSpPr>
        <p:spPr>
          <a:xfrm>
            <a:off x="4983480" y="1325880"/>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sp>
      <p:sp>
        <p:nvSpPr>
          <p:cNvPr id="6" name="3D residual CNN (MRI) badge"/>
          <p:cNvSpPr/>
          <p:nvPr/>
        </p:nvSpPr>
        <p:spPr>
          <a:xfrm>
            <a:off x="5184648" y="1600200"/>
            <a:ext cx="594360" cy="594360"/>
          </a:xfrm>
          <a:prstGeom prst="ellipse">
            <a:avLst/>
          </a:prstGeom>
          <a:solidFill>
            <a:schemeClr val="accent3"/>
          </a:solidFill>
          <a:ln/>
        </p:spPr>
      </p:sp>
      <p:pic>
        <p:nvPicPr>
          <p:cNvPr id="7" name="3D residual CNN (MRI) icon" descr="3D residual CNN (MRI)">    </p:cNvPr>
          <p:cNvPicPr>
            <a:picLocks noChangeAspect="1"/>
          </p:cNvPicPr>
          <p:nvPr/>
        </p:nvPicPr>
        <p:blipFill>
          <a:blip r:embed="rId2"/>
          <a:stretch>
            <a:fillRect/>
          </a:stretch>
        </p:blipFill>
        <p:spPr>
          <a:xfrm>
            <a:off x="5333238" y="1748790"/>
            <a:ext cx="297180" cy="297180"/>
          </a:xfrm>
          <a:prstGeom prst="rect">
            <a:avLst/>
          </a:prstGeom>
        </p:spPr>
      </p:pic>
      <p:sp>
        <p:nvSpPr>
          <p:cNvPr id="8" name="Text 4"/>
          <p:cNvSpPr txBox="1"/>
          <p:nvPr/>
        </p:nvSpPr>
        <p:spPr>
          <a:xfrm>
            <a:off x="5989320" y="1435608"/>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3D residual CNN (MRI)</a:t>
            </a:r>
            <a:endParaRPr lang="en-US" sz="1800" dirty="0"/>
          </a:p>
        </p:txBody>
      </p:sp>
      <p:sp>
        <p:nvSpPr>
          <p:cNvPr id="9" name="Text 5"/>
          <p:cNvSpPr txBox="1"/>
          <p:nvPr/>
        </p:nvSpPr>
        <p:spPr>
          <a:xfrm>
            <a:off x="8945575" y="1435608"/>
            <a:ext cx="2514600" cy="365760"/>
          </a:xfrm>
          <a:prstGeom prst="rect">
            <a:avLst/>
          </a:prstGeom>
          <a:noFill/>
          <a:ln/>
        </p:spPr>
        <p:txBody>
          <a:bodyPr wrap="square" lIns="0" tIns="0" rIns="0" bIns="0" rtlCol="0" anchor="ctr"/>
          <a:lstStyle/>
          <a:p>
            <a:pPr algn="r" indent="0" marL="0">
              <a:buNone/>
            </a:pPr>
            <a:r>
              <a:rPr lang="en-US" sz="1400" b="1" dirty="0">
                <a:solidFill>
                  <a:schemeClr val="accent3"/>
                </a:solidFill>
                <a:latin typeface="Calibri" pitchFamily="34" charset="0"/>
                <a:ea typeface="Calibri" pitchFamily="34" charset="-122"/>
                <a:cs typeface="Calibri" pitchFamily="34" charset="-120"/>
              </a:rPr>
              <a:t>883,472 params · 83.7%</a:t>
            </a:r>
            <a:endParaRPr lang="en-US" sz="1400" dirty="0"/>
          </a:p>
        </p:txBody>
      </p:sp>
      <p:sp>
        <p:nvSpPr>
          <p:cNvPr id="10" name="Text 6"/>
          <p:cNvSpPr txBox="1"/>
          <p:nvPr/>
        </p:nvSpPr>
        <p:spPr>
          <a:xfrm>
            <a:off x="5989320" y="1892808"/>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Stem plus three residual blocks, 16 → 128 channels; pooled to 64 tokens.</a:t>
            </a:r>
            <a:endParaRPr lang="en-US" sz="1400" dirty="0"/>
          </a:p>
        </p:txBody>
      </p:sp>
      <p:sp>
        <p:nvSpPr>
          <p:cNvPr id="11" name="component 1D CNN (VEP)"/>
          <p:cNvSpPr/>
          <p:nvPr/>
        </p:nvSpPr>
        <p:spPr>
          <a:xfrm>
            <a:off x="4983480" y="2578608"/>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sp>
      <p:sp>
        <p:nvSpPr>
          <p:cNvPr id="12" name="1D CNN (VEP) badge"/>
          <p:cNvSpPr/>
          <p:nvPr/>
        </p:nvSpPr>
        <p:spPr>
          <a:xfrm>
            <a:off x="5184648" y="2852928"/>
            <a:ext cx="594360" cy="594360"/>
          </a:xfrm>
          <a:prstGeom prst="ellipse">
            <a:avLst/>
          </a:prstGeom>
          <a:solidFill>
            <a:schemeClr val="accent2"/>
          </a:solidFill>
          <a:ln/>
        </p:spPr>
      </p:sp>
      <p:pic>
        <p:nvPicPr>
          <p:cNvPr id="13" name="1D CNN (VEP) icon" descr="1D CNN (VEP)">    </p:cNvPr>
          <p:cNvPicPr>
            <a:picLocks noChangeAspect="1"/>
          </p:cNvPicPr>
          <p:nvPr/>
        </p:nvPicPr>
        <p:blipFill>
          <a:blip r:embed="rId3"/>
          <a:stretch>
            <a:fillRect/>
          </a:stretch>
        </p:blipFill>
        <p:spPr>
          <a:xfrm>
            <a:off x="5333238" y="3001518"/>
            <a:ext cx="297180" cy="297180"/>
          </a:xfrm>
          <a:prstGeom prst="rect">
            <a:avLst/>
          </a:prstGeom>
        </p:spPr>
      </p:pic>
      <p:sp>
        <p:nvSpPr>
          <p:cNvPr id="14" name="Text 9"/>
          <p:cNvSpPr txBox="1"/>
          <p:nvPr/>
        </p:nvSpPr>
        <p:spPr>
          <a:xfrm>
            <a:off x="5989320" y="2688336"/>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1D CNN (VEP)</a:t>
            </a:r>
            <a:endParaRPr lang="en-US" sz="1800" dirty="0"/>
          </a:p>
        </p:txBody>
      </p:sp>
      <p:sp>
        <p:nvSpPr>
          <p:cNvPr id="15" name="Text 10"/>
          <p:cNvSpPr txBox="1"/>
          <p:nvPr/>
        </p:nvSpPr>
        <p:spPr>
          <a:xfrm>
            <a:off x="8945575" y="2688336"/>
            <a:ext cx="2514600" cy="365760"/>
          </a:xfrm>
          <a:prstGeom prst="rect">
            <a:avLst/>
          </a:prstGeom>
          <a:noFill/>
          <a:ln/>
        </p:spPr>
        <p:txBody>
          <a:bodyPr wrap="square" lIns="0" tIns="0" rIns="0" bIns="0" rtlCol="0" anchor="ctr"/>
          <a:lstStyle/>
          <a:p>
            <a:pPr algn="r" indent="0" marL="0">
              <a:buNone/>
            </a:pPr>
            <a:r>
              <a:rPr lang="en-US" sz="1400" b="1" dirty="0">
                <a:solidFill>
                  <a:schemeClr val="accent2"/>
                </a:solidFill>
                <a:latin typeface="Calibri" pitchFamily="34" charset="0"/>
                <a:ea typeface="Calibri" pitchFamily="34" charset="-122"/>
                <a:cs typeface="Calibri" pitchFamily="34" charset="-120"/>
              </a:rPr>
              <a:t>37,968 params · 3.6%</a:t>
            </a:r>
            <a:endParaRPr lang="en-US" sz="1400" dirty="0"/>
          </a:p>
        </p:txBody>
      </p:sp>
      <p:sp>
        <p:nvSpPr>
          <p:cNvPr id="16" name="Text 11"/>
          <p:cNvSpPr txBox="1"/>
          <p:nvPr/>
        </p:nvSpPr>
        <p:spPr>
          <a:xfrm>
            <a:off x="5989320" y="3145536"/>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Four Conv1d layers, 1 → 128 channels; pooled to 16 tokens.</a:t>
            </a:r>
            <a:endParaRPr lang="en-US" sz="1400" dirty="0"/>
          </a:p>
        </p:txBody>
      </p:sp>
      <p:sp>
        <p:nvSpPr>
          <p:cNvPr id="17" name="component Cross-attention fusion"/>
          <p:cNvSpPr/>
          <p:nvPr/>
        </p:nvSpPr>
        <p:spPr>
          <a:xfrm>
            <a:off x="4983480" y="3831336"/>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sp>
      <p:sp>
        <p:nvSpPr>
          <p:cNvPr id="18" name="Cross-attention fusion badge"/>
          <p:cNvSpPr/>
          <p:nvPr/>
        </p:nvSpPr>
        <p:spPr>
          <a:xfrm>
            <a:off x="5184648" y="4105656"/>
            <a:ext cx="594360" cy="594360"/>
          </a:xfrm>
          <a:prstGeom prst="ellipse">
            <a:avLst/>
          </a:prstGeom>
          <a:solidFill>
            <a:schemeClr val="accent4"/>
          </a:solidFill>
          <a:ln/>
        </p:spPr>
      </p:sp>
      <p:pic>
        <p:nvPicPr>
          <p:cNvPr id="19" name="Cross-attention fusion icon" descr="Cross-attention fusion">    </p:cNvPr>
          <p:cNvPicPr>
            <a:picLocks noChangeAspect="1"/>
          </p:cNvPicPr>
          <p:nvPr/>
        </p:nvPicPr>
        <p:blipFill>
          <a:blip r:embed="rId4"/>
          <a:stretch>
            <a:fillRect/>
          </a:stretch>
        </p:blipFill>
        <p:spPr>
          <a:xfrm>
            <a:off x="5333238" y="4254246"/>
            <a:ext cx="297180" cy="297180"/>
          </a:xfrm>
          <a:prstGeom prst="rect">
            <a:avLst/>
          </a:prstGeom>
        </p:spPr>
      </p:pic>
      <p:sp>
        <p:nvSpPr>
          <p:cNvPr id="20" name="Text 14"/>
          <p:cNvSpPr txBox="1"/>
          <p:nvPr/>
        </p:nvSpPr>
        <p:spPr>
          <a:xfrm>
            <a:off x="5989320" y="3941064"/>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Cross-attention fusion</a:t>
            </a:r>
            <a:endParaRPr lang="en-US" sz="1800" dirty="0"/>
          </a:p>
        </p:txBody>
      </p:sp>
      <p:sp>
        <p:nvSpPr>
          <p:cNvPr id="21" name="Text 15"/>
          <p:cNvSpPr txBox="1"/>
          <p:nvPr/>
        </p:nvSpPr>
        <p:spPr>
          <a:xfrm>
            <a:off x="8945575" y="3941064"/>
            <a:ext cx="2514600" cy="365760"/>
          </a:xfrm>
          <a:prstGeom prst="rect">
            <a:avLst/>
          </a:prstGeom>
          <a:noFill/>
          <a:ln/>
        </p:spPr>
        <p:txBody>
          <a:bodyPr wrap="square" lIns="0" tIns="0" rIns="0" bIns="0" rtlCol="0" anchor="ctr"/>
          <a:lstStyle/>
          <a:p>
            <a:pPr algn="r" indent="0" marL="0">
              <a:buNone/>
            </a:pPr>
            <a:r>
              <a:rPr lang="en-US" sz="1400" b="1" dirty="0">
                <a:solidFill>
                  <a:schemeClr val="accent4"/>
                </a:solidFill>
                <a:latin typeface="Calibri" pitchFamily="34" charset="0"/>
                <a:ea typeface="Calibri" pitchFamily="34" charset="-122"/>
                <a:cs typeface="Calibri" pitchFamily="34" charset="-120"/>
              </a:rPr>
              <a:t>132,480 params · 12.6%</a:t>
            </a:r>
            <a:endParaRPr lang="en-US" sz="1400" dirty="0"/>
          </a:p>
        </p:txBody>
      </p:sp>
      <p:sp>
        <p:nvSpPr>
          <p:cNvPr id="22" name="Text 16"/>
          <p:cNvSpPr txBox="1"/>
          <p:nvPr/>
        </p:nvSpPr>
        <p:spPr>
          <a:xfrm>
            <a:off x="5989320" y="4398264"/>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4 heads, residual + LayerNorm, FFN 128 → 256 → 128.</a:t>
            </a:r>
            <a:endParaRPr lang="en-US" sz="1400" dirty="0"/>
          </a:p>
        </p:txBody>
      </p:sp>
      <p:sp>
        <p:nvSpPr>
          <p:cNvPr id="23" name="component Three linear heads"/>
          <p:cNvSpPr/>
          <p:nvPr/>
        </p:nvSpPr>
        <p:spPr>
          <a:xfrm>
            <a:off x="4983480" y="5084064"/>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sp>
      <p:sp>
        <p:nvSpPr>
          <p:cNvPr id="24" name="Three linear heads badge"/>
          <p:cNvSpPr/>
          <p:nvPr/>
        </p:nvSpPr>
        <p:spPr>
          <a:xfrm>
            <a:off x="5184648" y="5358384"/>
            <a:ext cx="594360" cy="594360"/>
          </a:xfrm>
          <a:prstGeom prst="ellipse">
            <a:avLst/>
          </a:prstGeom>
          <a:solidFill>
            <a:schemeClr val="accent1"/>
          </a:solidFill>
          <a:ln/>
        </p:spPr>
      </p:sp>
      <p:pic>
        <p:nvPicPr>
          <p:cNvPr id="25" name="Three linear heads icon" descr="Three linear heads">    </p:cNvPr>
          <p:cNvPicPr>
            <a:picLocks noChangeAspect="1"/>
          </p:cNvPicPr>
          <p:nvPr/>
        </p:nvPicPr>
        <p:blipFill>
          <a:blip r:embed="rId5"/>
          <a:stretch>
            <a:fillRect/>
          </a:stretch>
        </p:blipFill>
        <p:spPr>
          <a:xfrm>
            <a:off x="5333238" y="5506974"/>
            <a:ext cx="297180" cy="297180"/>
          </a:xfrm>
          <a:prstGeom prst="rect">
            <a:avLst/>
          </a:prstGeom>
        </p:spPr>
      </p:pic>
      <p:sp>
        <p:nvSpPr>
          <p:cNvPr id="26" name="Text 19"/>
          <p:cNvSpPr txBox="1"/>
          <p:nvPr/>
        </p:nvSpPr>
        <p:spPr>
          <a:xfrm>
            <a:off x="5989320" y="5193792"/>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Three linear heads</a:t>
            </a:r>
            <a:endParaRPr lang="en-US" sz="1800" dirty="0"/>
          </a:p>
        </p:txBody>
      </p:sp>
      <p:sp>
        <p:nvSpPr>
          <p:cNvPr id="27" name="Text 20"/>
          <p:cNvSpPr txBox="1"/>
          <p:nvPr/>
        </p:nvSpPr>
        <p:spPr>
          <a:xfrm>
            <a:off x="8945575" y="5193792"/>
            <a:ext cx="2514600" cy="365760"/>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1,161 params</a:t>
            </a:r>
            <a:endParaRPr lang="en-US" sz="1400" dirty="0"/>
          </a:p>
        </p:txBody>
      </p:sp>
      <p:sp>
        <p:nvSpPr>
          <p:cNvPr id="28" name="Text 21"/>
          <p:cNvSpPr txBox="1"/>
          <p:nvPr/>
        </p:nvSpPr>
        <p:spPr>
          <a:xfrm>
            <a:off x="5989320" y="5650992"/>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Fused, spatial and temporal heads, each 128 → 3.</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Spatial tokens query temporal tokens</a:t>
            </a:r>
            <a:endParaRPr lang="en-US" sz="3600" dirty="0"/>
          </a:p>
        </p:txBody>
      </p:sp>
      <p:sp>
        <p:nvSpPr>
          <p:cNvPr id="3" name="fig_cross_attention card"/>
          <p:cNvSpPr/>
          <p:nvPr/>
        </p:nvSpPr>
        <p:spPr>
          <a:xfrm>
            <a:off x="548640" y="1325880"/>
            <a:ext cx="7406640" cy="3611880"/>
          </a:xfrm>
          <a:prstGeom prst="roundRect">
            <a:avLst>
              <a:gd name="adj" fmla="val 2532"/>
            </a:avLst>
          </a:prstGeom>
          <a:solidFill>
            <a:schemeClr val="bg1"/>
          </a:solidFill>
          <a:ln/>
          <a:effectLst>
            <a:outerShdw sx="100000" sy="100000" kx="0" ky="0" algn="bl" rotWithShape="0" blurRad="101600" dist="25400" dir="5400000">
              <a:srgbClr val="12232B">
                <a:alpha val="12000"/>
              </a:srgbClr>
            </a:outerShdw>
          </a:effectLst>
        </p:spPr>
      </p:sp>
      <p:pic>
        <p:nvPicPr>
          <p:cNvPr id="4" name="fig_cross_attention" descr="fig cross attention">    </p:cNvPr>
          <p:cNvPicPr>
            <a:picLocks noChangeAspect="1"/>
          </p:cNvPicPr>
          <p:nvPr/>
        </p:nvPicPr>
        <p:blipFill>
          <a:blip r:embed="rId1"/>
          <a:stretch>
            <a:fillRect/>
          </a:stretch>
        </p:blipFill>
        <p:spPr>
          <a:xfrm>
            <a:off x="820682" y="1463040"/>
            <a:ext cx="6862555" cy="3337560"/>
          </a:xfrm>
          <a:prstGeom prst="rect">
            <a:avLst/>
          </a:prstGeom>
        </p:spPr>
      </p:pic>
      <p:sp>
        <p:nvSpPr>
          <p:cNvPr id="5" name="equations card"/>
          <p:cNvSpPr/>
          <p:nvPr/>
        </p:nvSpPr>
        <p:spPr>
          <a:xfrm>
            <a:off x="8229600" y="1325880"/>
            <a:ext cx="3413455" cy="3611880"/>
          </a:xfrm>
          <a:prstGeom prst="roundRect">
            <a:avLst>
              <a:gd name="adj" fmla="val 2679"/>
            </a:avLst>
          </a:prstGeom>
          <a:solidFill>
            <a:schemeClr val="tx2"/>
          </a:solidFill>
          <a:ln/>
          <a:effectLst>
            <a:outerShdw sx="100000" sy="100000" kx="0" ky="0" algn="bl" rotWithShape="0" blurRad="101600" dist="25400" dir="5400000">
              <a:srgbClr val="12232B">
                <a:alpha val="12000"/>
              </a:srgbClr>
            </a:outerShdw>
          </a:effectLst>
        </p:spPr>
      </p:sp>
      <p:sp>
        <p:nvSpPr>
          <p:cNvPr id="6" name="Text 3"/>
          <p:cNvSpPr txBox="1"/>
          <p:nvPr/>
        </p:nvSpPr>
        <p:spPr>
          <a:xfrm>
            <a:off x="8503920" y="1508760"/>
            <a:ext cx="2864815"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Per head h</a:t>
            </a:r>
            <a:endParaRPr lang="en-US" sz="1400" dirty="0"/>
          </a:p>
        </p:txBody>
      </p:sp>
      <p:sp>
        <p:nvSpPr>
          <p:cNvPr id="7" name="Text 4"/>
          <p:cNvSpPr txBox="1"/>
          <p:nvPr/>
        </p:nvSpPr>
        <p:spPr>
          <a:xfrm>
            <a:off x="8503920" y="1920240"/>
            <a:ext cx="2864815" cy="45720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Q = X</a:t>
            </a:r>
            <a:pPr indent="0" marL="0">
              <a:buNone/>
            </a:pPr>
            <a:r>
              <a:rPr lang="en-US" sz="2200" i="1" baseline="-40000" dirty="0">
                <a:solidFill>
                  <a:schemeClr val="bg1"/>
                </a:solidFill>
                <a:latin typeface="Cambria" pitchFamily="34" charset="0"/>
                <a:ea typeface="Cambria" pitchFamily="34" charset="-122"/>
                <a:cs typeface="Cambria" pitchFamily="34" charset="-120"/>
              </a:rPr>
              <a:t>s</a:t>
            </a:r>
            <a:pPr indent="0" marL="0">
              <a:buNone/>
            </a:pPr>
            <a:r>
              <a:rPr lang="en-US" sz="2200" i="1" dirty="0">
                <a:solidFill>
                  <a:schemeClr val="bg1"/>
                </a:solidFill>
                <a:latin typeface="Cambria" pitchFamily="34" charset="0"/>
                <a:ea typeface="Cambria" pitchFamily="34" charset="-122"/>
                <a:cs typeface="Cambria" pitchFamily="34" charset="-120"/>
              </a:rPr>
              <a:t> W</a:t>
            </a:r>
            <a:pPr indent="0" marL="0">
              <a:buNone/>
            </a:pPr>
            <a:r>
              <a:rPr lang="en-US" sz="2200" i="1" baseline="-40000" dirty="0">
                <a:solidFill>
                  <a:schemeClr val="bg1"/>
                </a:solidFill>
                <a:latin typeface="Cambria" pitchFamily="34" charset="0"/>
                <a:ea typeface="Cambria" pitchFamily="34" charset="-122"/>
                <a:cs typeface="Cambria" pitchFamily="34" charset="-120"/>
              </a:rPr>
              <a:t>Q</a:t>
            </a:r>
            <a:endParaRPr lang="en-US" sz="2200" dirty="0"/>
          </a:p>
        </p:txBody>
      </p:sp>
      <p:sp>
        <p:nvSpPr>
          <p:cNvPr id="8" name="Text 5"/>
          <p:cNvSpPr txBox="1"/>
          <p:nvPr/>
        </p:nvSpPr>
        <p:spPr>
          <a:xfrm>
            <a:off x="8503920" y="2468880"/>
            <a:ext cx="2864815" cy="45720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K = X</a:t>
            </a:r>
            <a:pPr indent="0" marL="0">
              <a:buNone/>
            </a:pPr>
            <a:r>
              <a:rPr lang="en-US" sz="2200" i="1" baseline="-40000" dirty="0">
                <a:solidFill>
                  <a:schemeClr val="bg1"/>
                </a:solidFill>
                <a:latin typeface="Cambria" pitchFamily="34" charset="0"/>
                <a:ea typeface="Cambria" pitchFamily="34" charset="-122"/>
                <a:cs typeface="Cambria" pitchFamily="34" charset="-120"/>
              </a:rPr>
              <a:t>t</a:t>
            </a:r>
            <a:pPr indent="0" marL="0">
              <a:buNone/>
            </a:pPr>
            <a:r>
              <a:rPr lang="en-US" sz="2200" i="1" dirty="0">
                <a:solidFill>
                  <a:schemeClr val="bg1"/>
                </a:solidFill>
                <a:latin typeface="Cambria" pitchFamily="34" charset="0"/>
                <a:ea typeface="Cambria" pitchFamily="34" charset="-122"/>
                <a:cs typeface="Cambria" pitchFamily="34" charset="-120"/>
              </a:rPr>
              <a:t> W</a:t>
            </a:r>
            <a:pPr indent="0" marL="0">
              <a:buNone/>
            </a:pPr>
            <a:r>
              <a:rPr lang="en-US" sz="2200" i="1" baseline="-40000" dirty="0">
                <a:solidFill>
                  <a:schemeClr val="bg1"/>
                </a:solidFill>
                <a:latin typeface="Cambria" pitchFamily="34" charset="0"/>
                <a:ea typeface="Cambria" pitchFamily="34" charset="-122"/>
                <a:cs typeface="Cambria" pitchFamily="34" charset="-120"/>
              </a:rPr>
              <a:t>K</a:t>
            </a:r>
            <a:pPr indent="0" marL="0">
              <a:buNone/>
            </a:pPr>
            <a:r>
              <a:rPr lang="en-US" sz="2200" i="1" dirty="0">
                <a:solidFill>
                  <a:schemeClr val="bg1"/>
                </a:solidFill>
                <a:latin typeface="Cambria" pitchFamily="34" charset="0"/>
                <a:ea typeface="Cambria" pitchFamily="34" charset="-122"/>
                <a:cs typeface="Cambria" pitchFamily="34" charset="-120"/>
              </a:rPr>
              <a:t>,   V = X</a:t>
            </a:r>
            <a:pPr indent="0" marL="0">
              <a:buNone/>
            </a:pPr>
            <a:r>
              <a:rPr lang="en-US" sz="2200" i="1" baseline="-40000" dirty="0">
                <a:solidFill>
                  <a:schemeClr val="bg1"/>
                </a:solidFill>
                <a:latin typeface="Cambria" pitchFamily="34" charset="0"/>
                <a:ea typeface="Cambria" pitchFamily="34" charset="-122"/>
                <a:cs typeface="Cambria" pitchFamily="34" charset="-120"/>
              </a:rPr>
              <a:t>t</a:t>
            </a:r>
            <a:pPr indent="0" marL="0">
              <a:buNone/>
            </a:pPr>
            <a:r>
              <a:rPr lang="en-US" sz="2200" i="1" dirty="0">
                <a:solidFill>
                  <a:schemeClr val="bg1"/>
                </a:solidFill>
                <a:latin typeface="Cambria" pitchFamily="34" charset="0"/>
                <a:ea typeface="Cambria" pitchFamily="34" charset="-122"/>
                <a:cs typeface="Cambria" pitchFamily="34" charset="-120"/>
              </a:rPr>
              <a:t> W</a:t>
            </a:r>
            <a:pPr indent="0" marL="0">
              <a:buNone/>
            </a:pPr>
            <a:r>
              <a:rPr lang="en-US" sz="2200" i="1" baseline="-40000" dirty="0">
                <a:solidFill>
                  <a:schemeClr val="bg1"/>
                </a:solidFill>
                <a:latin typeface="Cambria" pitchFamily="34" charset="0"/>
                <a:ea typeface="Cambria" pitchFamily="34" charset="-122"/>
                <a:cs typeface="Cambria" pitchFamily="34" charset="-120"/>
              </a:rPr>
              <a:t>V</a:t>
            </a:r>
            <a:endParaRPr lang="en-US" sz="2200" dirty="0"/>
          </a:p>
        </p:txBody>
      </p:sp>
      <p:sp>
        <p:nvSpPr>
          <p:cNvPr id="9" name="Text 6"/>
          <p:cNvSpPr txBox="1"/>
          <p:nvPr/>
        </p:nvSpPr>
        <p:spPr>
          <a:xfrm>
            <a:off x="8503920" y="3017520"/>
            <a:ext cx="2864815" cy="45720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A = softmax(Q Kᵀ / √d</a:t>
            </a:r>
            <a:pPr indent="0" marL="0">
              <a:buNone/>
            </a:pPr>
            <a:r>
              <a:rPr lang="en-US" sz="2200" i="1" baseline="-40000" dirty="0">
                <a:solidFill>
                  <a:schemeClr val="bg1"/>
                </a:solidFill>
                <a:latin typeface="Cambria" pitchFamily="34" charset="0"/>
                <a:ea typeface="Cambria" pitchFamily="34" charset="-122"/>
                <a:cs typeface="Cambria" pitchFamily="34" charset="-120"/>
              </a:rPr>
              <a:t>h</a:t>
            </a:r>
            <a:pPr indent="0" marL="0">
              <a:buNone/>
            </a:pPr>
            <a:r>
              <a:rPr lang="en-US" sz="2200" i="1" dirty="0">
                <a:solidFill>
                  <a:schemeClr val="bg1"/>
                </a:solidFill>
                <a:latin typeface="Cambria" pitchFamily="34" charset="0"/>
                <a:ea typeface="Cambria" pitchFamily="34" charset="-122"/>
                <a:cs typeface="Cambria" pitchFamily="34" charset="-120"/>
              </a:rPr>
              <a:t>)</a:t>
            </a:r>
            <a:endParaRPr lang="en-US" sz="2200" dirty="0"/>
          </a:p>
        </p:txBody>
      </p:sp>
      <p:sp>
        <p:nvSpPr>
          <p:cNvPr id="10" name="Text 7"/>
          <p:cNvSpPr txBox="1"/>
          <p:nvPr/>
        </p:nvSpPr>
        <p:spPr>
          <a:xfrm>
            <a:off x="8503920" y="3749040"/>
            <a:ext cx="2864815" cy="82296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4 heads · d_h = 32 · attention tensor (B, 4, 64, 16)</a:t>
            </a:r>
            <a:endParaRPr lang="en-US" sz="1400" dirty="0"/>
          </a:p>
        </p:txBody>
      </p:sp>
      <p:sp>
        <p:nvSpPr>
          <p:cNvPr id="11" name="attn note 1"/>
          <p:cNvSpPr/>
          <p:nvPr/>
        </p:nvSpPr>
        <p:spPr>
          <a:xfrm>
            <a:off x="548640" y="5120640"/>
            <a:ext cx="3515258" cy="1097280"/>
          </a:xfrm>
          <a:prstGeom prst="roundRect">
            <a:avLst>
              <a:gd name="adj" fmla="val 8333"/>
            </a:avLst>
          </a:prstGeom>
          <a:solidFill>
            <a:schemeClr val="bg1"/>
          </a:solidFill>
          <a:ln/>
          <a:effectLst>
            <a:outerShdw sx="100000" sy="100000" kx="0" ky="0" algn="bl" rotWithShape="0" blurRad="101600" dist="25400" dir="5400000">
              <a:srgbClr val="12232B">
                <a:alpha val="12000"/>
              </a:srgbClr>
            </a:outerShdw>
          </a:effectLst>
        </p:spPr>
      </p:sp>
      <p:sp>
        <p:nvSpPr>
          <p:cNvPr id="12" name="64 queries badge"/>
          <p:cNvSpPr/>
          <p:nvPr/>
        </p:nvSpPr>
        <p:spPr>
          <a:xfrm>
            <a:off x="749808" y="5394960"/>
            <a:ext cx="548640" cy="548640"/>
          </a:xfrm>
          <a:prstGeom prst="ellipse">
            <a:avLst/>
          </a:prstGeom>
          <a:solidFill>
            <a:schemeClr val="accent3"/>
          </a:solidFill>
          <a:ln/>
        </p:spPr>
      </p:sp>
      <p:pic>
        <p:nvPicPr>
          <p:cNvPr id="13" name="64 queries icon" descr="64 queries">    </p:cNvPr>
          <p:cNvPicPr>
            <a:picLocks noChangeAspect="1"/>
          </p:cNvPicPr>
          <p:nvPr/>
        </p:nvPicPr>
        <p:blipFill>
          <a:blip r:embed="rId2"/>
          <a:stretch>
            <a:fillRect/>
          </a:stretch>
        </p:blipFill>
        <p:spPr>
          <a:xfrm>
            <a:off x="886968" y="5532120"/>
            <a:ext cx="274320" cy="274320"/>
          </a:xfrm>
          <a:prstGeom prst="rect">
            <a:avLst/>
          </a:prstGeom>
        </p:spPr>
      </p:pic>
      <p:sp>
        <p:nvSpPr>
          <p:cNvPr id="14" name="Text 10"/>
          <p:cNvSpPr txBox="1"/>
          <p:nvPr/>
        </p:nvSpPr>
        <p:spPr>
          <a:xfrm>
            <a:off x="1463040" y="5257800"/>
            <a:ext cx="2417978"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64 queries</a:t>
            </a:r>
            <a:endParaRPr lang="en-US" sz="1600" dirty="0"/>
          </a:p>
        </p:txBody>
      </p:sp>
      <p:sp>
        <p:nvSpPr>
          <p:cNvPr id="15" name="Text 11"/>
          <p:cNvSpPr txBox="1"/>
          <p:nvPr/>
        </p:nvSpPr>
        <p:spPr>
          <a:xfrm>
            <a:off x="1463040" y="5641848"/>
            <a:ext cx="2417978"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one per spatial token of the MRI</a:t>
            </a:r>
            <a:endParaRPr lang="en-US" sz="1400" dirty="0"/>
          </a:p>
        </p:txBody>
      </p:sp>
      <p:sp>
        <p:nvSpPr>
          <p:cNvPr id="16" name="attn note 2"/>
          <p:cNvSpPr/>
          <p:nvPr/>
        </p:nvSpPr>
        <p:spPr>
          <a:xfrm>
            <a:off x="4338218" y="5120640"/>
            <a:ext cx="3515258" cy="1097280"/>
          </a:xfrm>
          <a:prstGeom prst="roundRect">
            <a:avLst>
              <a:gd name="adj" fmla="val 8333"/>
            </a:avLst>
          </a:prstGeom>
          <a:solidFill>
            <a:schemeClr val="bg1"/>
          </a:solidFill>
          <a:ln/>
          <a:effectLst>
            <a:outerShdw sx="100000" sy="100000" kx="0" ky="0" algn="bl" rotWithShape="0" blurRad="101600" dist="25400" dir="5400000">
              <a:srgbClr val="12232B">
                <a:alpha val="12000"/>
              </a:srgbClr>
            </a:outerShdw>
          </a:effectLst>
        </p:spPr>
      </p:sp>
      <p:sp>
        <p:nvSpPr>
          <p:cNvPr id="17" name="16 keys and values badge"/>
          <p:cNvSpPr/>
          <p:nvPr/>
        </p:nvSpPr>
        <p:spPr>
          <a:xfrm>
            <a:off x="4539386" y="5394960"/>
            <a:ext cx="548640" cy="548640"/>
          </a:xfrm>
          <a:prstGeom prst="ellipse">
            <a:avLst/>
          </a:prstGeom>
          <a:solidFill>
            <a:schemeClr val="accent2"/>
          </a:solidFill>
          <a:ln/>
        </p:spPr>
      </p:sp>
      <p:pic>
        <p:nvPicPr>
          <p:cNvPr id="18" name="16 keys and values icon" descr="16 keys and values">    </p:cNvPr>
          <p:cNvPicPr>
            <a:picLocks noChangeAspect="1"/>
          </p:cNvPicPr>
          <p:nvPr/>
        </p:nvPicPr>
        <p:blipFill>
          <a:blip r:embed="rId3"/>
          <a:stretch>
            <a:fillRect/>
          </a:stretch>
        </p:blipFill>
        <p:spPr>
          <a:xfrm>
            <a:off x="4676546" y="5532120"/>
            <a:ext cx="274320" cy="274320"/>
          </a:xfrm>
          <a:prstGeom prst="rect">
            <a:avLst/>
          </a:prstGeom>
        </p:spPr>
      </p:pic>
      <p:sp>
        <p:nvSpPr>
          <p:cNvPr id="19" name="Text 14"/>
          <p:cNvSpPr txBox="1"/>
          <p:nvPr/>
        </p:nvSpPr>
        <p:spPr>
          <a:xfrm>
            <a:off x="5252618" y="5257800"/>
            <a:ext cx="2417978"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16 keys and values</a:t>
            </a:r>
            <a:endParaRPr lang="en-US" sz="1600" dirty="0"/>
          </a:p>
        </p:txBody>
      </p:sp>
      <p:sp>
        <p:nvSpPr>
          <p:cNvPr id="20" name="Text 15"/>
          <p:cNvSpPr txBox="1"/>
          <p:nvPr/>
        </p:nvSpPr>
        <p:spPr>
          <a:xfrm>
            <a:off x="5252618" y="5641848"/>
            <a:ext cx="2417978"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temporal tokens, nominally 125 ms each</a:t>
            </a:r>
            <a:endParaRPr lang="en-US" sz="1400" dirty="0"/>
          </a:p>
        </p:txBody>
      </p:sp>
      <p:sp>
        <p:nvSpPr>
          <p:cNvPr id="21" name="attn note 3"/>
          <p:cNvSpPr/>
          <p:nvPr/>
        </p:nvSpPr>
        <p:spPr>
          <a:xfrm>
            <a:off x="8127797" y="5120640"/>
            <a:ext cx="3515258" cy="1097280"/>
          </a:xfrm>
          <a:prstGeom prst="roundRect">
            <a:avLst>
              <a:gd name="adj" fmla="val 8333"/>
            </a:avLst>
          </a:prstGeom>
          <a:solidFill>
            <a:schemeClr val="bg1"/>
          </a:solidFill>
          <a:ln/>
          <a:effectLst>
            <a:outerShdw sx="100000" sy="100000" kx="0" ky="0" algn="bl" rotWithShape="0" blurRad="101600" dist="25400" dir="5400000">
              <a:srgbClr val="12232B">
                <a:alpha val="12000"/>
              </a:srgbClr>
            </a:outerShdw>
          </a:effectLst>
        </p:spPr>
      </p:sp>
      <p:sp>
        <p:nvSpPr>
          <p:cNvPr id="22" name="Fused tokens (B, 64, 128) badge"/>
          <p:cNvSpPr/>
          <p:nvPr/>
        </p:nvSpPr>
        <p:spPr>
          <a:xfrm>
            <a:off x="8328965" y="5394960"/>
            <a:ext cx="548640" cy="548640"/>
          </a:xfrm>
          <a:prstGeom prst="ellipse">
            <a:avLst/>
          </a:prstGeom>
          <a:solidFill>
            <a:schemeClr val="accent4"/>
          </a:solidFill>
          <a:ln/>
        </p:spPr>
      </p:sp>
      <p:pic>
        <p:nvPicPr>
          <p:cNvPr id="23" name="Fused tokens (B, 64, 128) icon" descr="Fused tokens (B, 64, 128)">    </p:cNvPr>
          <p:cNvPicPr>
            <a:picLocks noChangeAspect="1"/>
          </p:cNvPicPr>
          <p:nvPr/>
        </p:nvPicPr>
        <p:blipFill>
          <a:blip r:embed="rId4"/>
          <a:stretch>
            <a:fillRect/>
          </a:stretch>
        </p:blipFill>
        <p:spPr>
          <a:xfrm>
            <a:off x="8466125" y="5532120"/>
            <a:ext cx="274320" cy="274320"/>
          </a:xfrm>
          <a:prstGeom prst="rect">
            <a:avLst/>
          </a:prstGeom>
        </p:spPr>
      </p:pic>
      <p:sp>
        <p:nvSpPr>
          <p:cNvPr id="24" name="Text 18"/>
          <p:cNvSpPr txBox="1"/>
          <p:nvPr/>
        </p:nvSpPr>
        <p:spPr>
          <a:xfrm>
            <a:off x="9042197" y="5257800"/>
            <a:ext cx="2417978"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Fused tokens (B, 64, 128)</a:t>
            </a:r>
            <a:endParaRPr lang="en-US" sz="1600" dirty="0"/>
          </a:p>
        </p:txBody>
      </p:sp>
      <p:sp>
        <p:nvSpPr>
          <p:cNvPr id="25" name="Text 19"/>
          <p:cNvSpPr txBox="1"/>
          <p:nvPr/>
        </p:nvSpPr>
        <p:spPr>
          <a:xfrm>
            <a:off x="9042197" y="5641848"/>
            <a:ext cx="2417978"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plus the attention map for inspection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One fused loss, two auxiliary heads</a:t>
            </a:r>
            <a:endParaRPr lang="en-US" sz="3600" dirty="0"/>
          </a:p>
        </p:txBody>
      </p:sp>
      <p:sp>
        <p:nvSpPr>
          <p:cNvPr id="3" name="fig_training_flow card"/>
          <p:cNvSpPr/>
          <p:nvPr/>
        </p:nvSpPr>
        <p:spPr>
          <a:xfrm>
            <a:off x="548640" y="1325880"/>
            <a:ext cx="7680960" cy="3154680"/>
          </a:xfrm>
          <a:prstGeom prst="roundRect">
            <a:avLst>
              <a:gd name="adj" fmla="val 2899"/>
            </a:avLst>
          </a:prstGeom>
          <a:solidFill>
            <a:schemeClr val="bg1"/>
          </a:solidFill>
          <a:ln/>
          <a:effectLst>
            <a:outerShdw sx="100000" sy="100000" kx="0" ky="0" algn="bl" rotWithShape="0" blurRad="101600" dist="25400" dir="5400000">
              <a:srgbClr val="12232B">
                <a:alpha val="12000"/>
              </a:srgbClr>
            </a:outerShdw>
          </a:effectLst>
        </p:spPr>
      </p:sp>
      <p:pic>
        <p:nvPicPr>
          <p:cNvPr id="4" name="fig_training_flow" descr="fig training flow">    </p:cNvPr>
          <p:cNvPicPr>
            <a:picLocks noChangeAspect="1"/>
          </p:cNvPicPr>
          <p:nvPr/>
        </p:nvPicPr>
        <p:blipFill>
          <a:blip r:embed="rId1"/>
          <a:stretch>
            <a:fillRect/>
          </a:stretch>
        </p:blipFill>
        <p:spPr>
          <a:xfrm>
            <a:off x="685800" y="1487149"/>
            <a:ext cx="7406640" cy="2832143"/>
          </a:xfrm>
          <a:prstGeom prst="rect">
            <a:avLst/>
          </a:prstGeom>
        </p:spPr>
      </p:pic>
      <p:sp>
        <p:nvSpPr>
          <p:cNvPr id="5" name="loss card"/>
          <p:cNvSpPr/>
          <p:nvPr/>
        </p:nvSpPr>
        <p:spPr>
          <a:xfrm>
            <a:off x="8503920" y="1325880"/>
            <a:ext cx="3139135" cy="3154680"/>
          </a:xfrm>
          <a:prstGeom prst="roundRect">
            <a:avLst>
              <a:gd name="adj" fmla="val 2913"/>
            </a:avLst>
          </a:prstGeom>
          <a:solidFill>
            <a:schemeClr val="tx2"/>
          </a:solidFill>
          <a:ln/>
          <a:effectLst>
            <a:outerShdw sx="100000" sy="100000" kx="0" ky="0" algn="bl" rotWithShape="0" blurRad="101600" dist="25400" dir="5400000">
              <a:srgbClr val="12232B">
                <a:alpha val="12000"/>
              </a:srgbClr>
            </a:outerShdw>
          </a:effectLst>
        </p:spPr>
      </p:sp>
      <p:sp>
        <p:nvSpPr>
          <p:cNvPr id="6" name="Text 3"/>
          <p:cNvSpPr txBox="1"/>
          <p:nvPr/>
        </p:nvSpPr>
        <p:spPr>
          <a:xfrm>
            <a:off x="8778240" y="1508760"/>
            <a:ext cx="2590495"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Multi-task objective</a:t>
            </a:r>
            <a:endParaRPr lang="en-US" sz="1400" dirty="0"/>
          </a:p>
        </p:txBody>
      </p:sp>
      <p:sp>
        <p:nvSpPr>
          <p:cNvPr id="7" name="Text 4"/>
          <p:cNvSpPr txBox="1"/>
          <p:nvPr/>
        </p:nvSpPr>
        <p:spPr>
          <a:xfrm>
            <a:off x="8778240" y="1920240"/>
            <a:ext cx="2590495" cy="548640"/>
          </a:xfrm>
          <a:prstGeom prst="rect">
            <a:avLst/>
          </a:prstGeom>
          <a:noFill/>
          <a:ln/>
        </p:spPr>
        <p:txBody>
          <a:bodyPr wrap="square" lIns="0" tIns="0" rIns="0" bIns="0" rtlCol="0" anchor="ctr"/>
          <a:lstStyle/>
          <a:p>
            <a:pPr indent="0" marL="0">
              <a:buNone/>
            </a:pPr>
            <a:r>
              <a:rPr lang="en-US" sz="2400" i="1" dirty="0">
                <a:solidFill>
                  <a:schemeClr val="bg1"/>
                </a:solidFill>
                <a:latin typeface="Cambria" pitchFamily="34" charset="0"/>
                <a:ea typeface="Cambria" pitchFamily="34" charset="-122"/>
                <a:cs typeface="Cambria" pitchFamily="34" charset="-120"/>
              </a:rPr>
              <a:t>L = L</a:t>
            </a:r>
            <a:pPr indent="0" marL="0">
              <a:buNone/>
            </a:pPr>
            <a:r>
              <a:rPr lang="en-US" sz="2400" i="1" baseline="-40000" dirty="0">
                <a:solidFill>
                  <a:schemeClr val="bg1"/>
                </a:solidFill>
                <a:latin typeface="Cambria" pitchFamily="34" charset="0"/>
                <a:ea typeface="Cambria" pitchFamily="34" charset="-122"/>
                <a:cs typeface="Cambria" pitchFamily="34" charset="-120"/>
              </a:rPr>
              <a:t>f</a:t>
            </a:r>
            <a:pPr indent="0" marL="0">
              <a:buNone/>
            </a:pPr>
            <a:r>
              <a:rPr lang="en-US" sz="2400" i="1" dirty="0">
                <a:solidFill>
                  <a:schemeClr val="bg1"/>
                </a:solidFill>
                <a:latin typeface="Cambria" pitchFamily="34" charset="0"/>
                <a:ea typeface="Cambria" pitchFamily="34" charset="-122"/>
                <a:cs typeface="Cambria" pitchFamily="34" charset="-120"/>
              </a:rPr>
              <a:t> + 0.3 (L</a:t>
            </a:r>
            <a:pPr indent="0" marL="0">
              <a:buNone/>
            </a:pPr>
            <a:r>
              <a:rPr lang="en-US" sz="2400" i="1" baseline="-40000" dirty="0">
                <a:solidFill>
                  <a:schemeClr val="bg1"/>
                </a:solidFill>
                <a:latin typeface="Cambria" pitchFamily="34" charset="0"/>
                <a:ea typeface="Cambria" pitchFamily="34" charset="-122"/>
                <a:cs typeface="Cambria" pitchFamily="34" charset="-120"/>
              </a:rPr>
              <a:t>s</a:t>
            </a:r>
            <a:pPr indent="0" marL="0">
              <a:buNone/>
            </a:pPr>
            <a:r>
              <a:rPr lang="en-US" sz="2400" i="1" dirty="0">
                <a:solidFill>
                  <a:schemeClr val="bg1"/>
                </a:solidFill>
                <a:latin typeface="Cambria" pitchFamily="34" charset="0"/>
                <a:ea typeface="Cambria" pitchFamily="34" charset="-122"/>
                <a:cs typeface="Cambria" pitchFamily="34" charset="-120"/>
              </a:rPr>
              <a:t> + L</a:t>
            </a:r>
            <a:pPr indent="0" marL="0">
              <a:buNone/>
            </a:pPr>
            <a:r>
              <a:rPr lang="en-US" sz="2400" i="1" baseline="-40000" dirty="0">
                <a:solidFill>
                  <a:schemeClr val="bg1"/>
                </a:solidFill>
                <a:latin typeface="Cambria" pitchFamily="34" charset="0"/>
                <a:ea typeface="Cambria" pitchFamily="34" charset="-122"/>
                <a:cs typeface="Cambria" pitchFamily="34" charset="-120"/>
              </a:rPr>
              <a:t>t</a:t>
            </a:r>
            <a:pPr indent="0" marL="0">
              <a:buNone/>
            </a:pPr>
            <a:r>
              <a:rPr lang="en-US" sz="2400" i="1" dirty="0">
                <a:solidFill>
                  <a:schemeClr val="bg1"/>
                </a:solidFill>
                <a:latin typeface="Cambria" pitchFamily="34" charset="0"/>
                <a:ea typeface="Cambria" pitchFamily="34" charset="-122"/>
                <a:cs typeface="Cambria" pitchFamily="34" charset="-120"/>
              </a:rPr>
              <a:t>)</a:t>
            </a:r>
            <a:endParaRPr lang="en-US" sz="2400" dirty="0"/>
          </a:p>
        </p:txBody>
      </p:sp>
      <p:sp>
        <p:nvSpPr>
          <p:cNvPr id="8" name="Text 5"/>
          <p:cNvSpPr txBox="1"/>
          <p:nvPr/>
        </p:nvSpPr>
        <p:spPr>
          <a:xfrm>
            <a:off x="8778240" y="2651760"/>
            <a:ext cx="2590495" cy="16459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Cross-entropy on the fused, spatial and temporal heads. The auxiliary terms stop the fused head from ignoring one modality.</a:t>
            </a:r>
            <a:endParaRPr lang="en-US" sz="1400" dirty="0"/>
          </a:p>
        </p:txBody>
      </p:sp>
      <p:sp>
        <p:nvSpPr>
          <p:cNvPr id="9" name="config optimiser, lr 1e-3"/>
          <p:cNvSpPr/>
          <p:nvPr/>
        </p:nvSpPr>
        <p:spPr>
          <a:xfrm>
            <a:off x="548640"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sp>
      <p:sp>
        <p:nvSpPr>
          <p:cNvPr id="10" name="Text 7"/>
          <p:cNvSpPr txBox="1"/>
          <p:nvPr/>
        </p:nvSpPr>
        <p:spPr>
          <a:xfrm>
            <a:off x="685800"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Adam</a:t>
            </a:r>
            <a:endParaRPr lang="en-US" sz="2800" dirty="0"/>
          </a:p>
        </p:txBody>
      </p:sp>
      <p:sp>
        <p:nvSpPr>
          <p:cNvPr id="11" name="Text 8"/>
          <p:cNvSpPr txBox="1"/>
          <p:nvPr/>
        </p:nvSpPr>
        <p:spPr>
          <a:xfrm>
            <a:off x="685800"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optimiser, lr 1e-3</a:t>
            </a:r>
            <a:endParaRPr lang="en-US" sz="1400" dirty="0"/>
          </a:p>
        </p:txBody>
      </p:sp>
      <p:sp>
        <p:nvSpPr>
          <p:cNvPr id="12" name="config weight decay"/>
          <p:cNvSpPr/>
          <p:nvPr/>
        </p:nvSpPr>
        <p:spPr>
          <a:xfrm>
            <a:off x="2804099"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sp>
      <p:sp>
        <p:nvSpPr>
          <p:cNvPr id="13" name="Text 10"/>
          <p:cNvSpPr txBox="1"/>
          <p:nvPr/>
        </p:nvSpPr>
        <p:spPr>
          <a:xfrm>
            <a:off x="2941259"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1e-4</a:t>
            </a:r>
            <a:endParaRPr lang="en-US" sz="2800" dirty="0"/>
          </a:p>
        </p:txBody>
      </p:sp>
      <p:sp>
        <p:nvSpPr>
          <p:cNvPr id="14" name="Text 11"/>
          <p:cNvSpPr txBox="1"/>
          <p:nvPr/>
        </p:nvSpPr>
        <p:spPr>
          <a:xfrm>
            <a:off x="2941259"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weight decay</a:t>
            </a:r>
            <a:endParaRPr lang="en-US" sz="1400" dirty="0"/>
          </a:p>
        </p:txBody>
      </p:sp>
      <p:sp>
        <p:nvSpPr>
          <p:cNvPr id="15" name="config batch size"/>
          <p:cNvSpPr/>
          <p:nvPr/>
        </p:nvSpPr>
        <p:spPr>
          <a:xfrm>
            <a:off x="5059558"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sp>
      <p:sp>
        <p:nvSpPr>
          <p:cNvPr id="16" name="Text 13"/>
          <p:cNvSpPr txBox="1"/>
          <p:nvPr/>
        </p:nvSpPr>
        <p:spPr>
          <a:xfrm>
            <a:off x="5196718"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8</a:t>
            </a:r>
            <a:endParaRPr lang="en-US" sz="2800" dirty="0"/>
          </a:p>
        </p:txBody>
      </p:sp>
      <p:sp>
        <p:nvSpPr>
          <p:cNvPr id="17" name="Text 14"/>
          <p:cNvSpPr txBox="1"/>
          <p:nvPr/>
        </p:nvSpPr>
        <p:spPr>
          <a:xfrm>
            <a:off x="5196718"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batch size</a:t>
            </a:r>
            <a:endParaRPr lang="en-US" sz="1400" dirty="0"/>
          </a:p>
        </p:txBody>
      </p:sp>
      <p:sp>
        <p:nvSpPr>
          <p:cNvPr id="18" name="config epochs"/>
          <p:cNvSpPr/>
          <p:nvPr/>
        </p:nvSpPr>
        <p:spPr>
          <a:xfrm>
            <a:off x="7315017"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sp>
      <p:sp>
        <p:nvSpPr>
          <p:cNvPr id="19" name="Text 16"/>
          <p:cNvSpPr txBox="1"/>
          <p:nvPr/>
        </p:nvSpPr>
        <p:spPr>
          <a:xfrm>
            <a:off x="7452177"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20</a:t>
            </a:r>
            <a:endParaRPr lang="en-US" sz="2800" dirty="0"/>
          </a:p>
        </p:txBody>
      </p:sp>
      <p:sp>
        <p:nvSpPr>
          <p:cNvPr id="20" name="Text 17"/>
          <p:cNvSpPr txBox="1"/>
          <p:nvPr/>
        </p:nvSpPr>
        <p:spPr>
          <a:xfrm>
            <a:off x="7452177"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epochs</a:t>
            </a:r>
            <a:endParaRPr lang="en-US" sz="1400" dirty="0"/>
          </a:p>
        </p:txBody>
      </p:sp>
      <p:sp>
        <p:nvSpPr>
          <p:cNvPr id="21" name="config split, seed 42"/>
          <p:cNvSpPr/>
          <p:nvPr/>
        </p:nvSpPr>
        <p:spPr>
          <a:xfrm>
            <a:off x="9570476"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sp>
      <p:sp>
        <p:nvSpPr>
          <p:cNvPr id="22" name="Text 19"/>
          <p:cNvSpPr txBox="1"/>
          <p:nvPr/>
        </p:nvSpPr>
        <p:spPr>
          <a:xfrm>
            <a:off x="9707636"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80 / 20</a:t>
            </a:r>
            <a:endParaRPr lang="en-US" sz="2800" dirty="0"/>
          </a:p>
        </p:txBody>
      </p:sp>
      <p:sp>
        <p:nvSpPr>
          <p:cNvPr id="23" name="Text 20"/>
          <p:cNvSpPr txBox="1"/>
          <p:nvPr/>
        </p:nvSpPr>
        <p:spPr>
          <a:xfrm>
            <a:off x="9707636"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split, seed 42</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Explanations are inspection aids</a:t>
            </a:r>
            <a:endParaRPr lang="en-US" sz="3600" dirty="0"/>
          </a:p>
        </p:txBody>
      </p:sp>
      <p:sp>
        <p:nvSpPr>
          <p:cNvPr id="3" name="fig_explainability card"/>
          <p:cNvSpPr/>
          <p:nvPr/>
        </p:nvSpPr>
        <p:spPr>
          <a:xfrm>
            <a:off x="548640" y="1325880"/>
            <a:ext cx="7040880" cy="3429000"/>
          </a:xfrm>
          <a:prstGeom prst="roundRect">
            <a:avLst>
              <a:gd name="adj" fmla="val 2667"/>
            </a:avLst>
          </a:prstGeom>
          <a:solidFill>
            <a:schemeClr val="bg1"/>
          </a:solidFill>
          <a:ln/>
          <a:effectLst>
            <a:outerShdw sx="100000" sy="100000" kx="0" ky="0" algn="bl" rotWithShape="0" blurRad="101600" dist="25400" dir="5400000">
              <a:srgbClr val="12232B">
                <a:alpha val="12000"/>
              </a:srgbClr>
            </a:outerShdw>
          </a:effectLst>
        </p:spPr>
      </p:sp>
      <p:pic>
        <p:nvPicPr>
          <p:cNvPr id="4" name="fig_explainability" descr="fig explainability">    </p:cNvPr>
          <p:cNvPicPr>
            <a:picLocks noChangeAspect="1"/>
          </p:cNvPicPr>
          <p:nvPr/>
        </p:nvPicPr>
        <p:blipFill>
          <a:blip r:embed="rId1"/>
          <a:stretch>
            <a:fillRect/>
          </a:stretch>
        </p:blipFill>
        <p:spPr>
          <a:xfrm>
            <a:off x="685800" y="1487350"/>
            <a:ext cx="6766560" cy="3106060"/>
          </a:xfrm>
          <a:prstGeom prst="rect">
            <a:avLst/>
          </a:prstGeom>
        </p:spPr>
      </p:pic>
      <p:sp>
        <p:nvSpPr>
          <p:cNvPr id="5" name="what they show"/>
          <p:cNvSpPr/>
          <p:nvPr/>
        </p:nvSpPr>
        <p:spPr>
          <a:xfrm>
            <a:off x="7863840" y="1325880"/>
            <a:ext cx="3779215" cy="1600200"/>
          </a:xfrm>
          <a:prstGeom prst="roundRect">
            <a:avLst>
              <a:gd name="adj" fmla="val 5714"/>
            </a:avLst>
          </a:prstGeom>
          <a:solidFill>
            <a:schemeClr val="bg1"/>
          </a:solidFill>
          <a:ln/>
          <a:effectLst>
            <a:outerShdw sx="100000" sy="100000" kx="0" ky="0" algn="bl" rotWithShape="0" blurRad="101600" dist="25400" dir="5400000">
              <a:srgbClr val="12232B">
                <a:alpha val="12000"/>
              </a:srgbClr>
            </a:outerShdw>
          </a:effectLst>
        </p:spPr>
      </p:sp>
      <p:sp>
        <p:nvSpPr>
          <p:cNvPr id="6" name="search badge"/>
          <p:cNvSpPr/>
          <p:nvPr/>
        </p:nvSpPr>
        <p:spPr>
          <a:xfrm>
            <a:off x="8065008" y="1527048"/>
            <a:ext cx="502920" cy="502920"/>
          </a:xfrm>
          <a:prstGeom prst="ellipse">
            <a:avLst/>
          </a:prstGeom>
          <a:solidFill>
            <a:schemeClr val="accent5"/>
          </a:solidFill>
          <a:ln/>
        </p:spPr>
      </p:sp>
      <p:pic>
        <p:nvPicPr>
          <p:cNvPr id="7" name="search icon" descr="search">    </p:cNvPr>
          <p:cNvPicPr>
            <a:picLocks noChangeAspect="1"/>
          </p:cNvPicPr>
          <p:nvPr/>
        </p:nvPicPr>
        <p:blipFill>
          <a:blip r:embed="rId2"/>
          <a:stretch>
            <a:fillRect/>
          </a:stretch>
        </p:blipFill>
        <p:spPr>
          <a:xfrm>
            <a:off x="8190738" y="1652778"/>
            <a:ext cx="251460" cy="251460"/>
          </a:xfrm>
          <a:prstGeom prst="rect">
            <a:avLst/>
          </a:prstGeom>
        </p:spPr>
      </p:pic>
      <p:sp>
        <p:nvSpPr>
          <p:cNvPr id="8" name="Text 4"/>
          <p:cNvSpPr txBox="1"/>
          <p:nvPr/>
        </p:nvSpPr>
        <p:spPr>
          <a:xfrm>
            <a:off x="8732520" y="1527048"/>
            <a:ext cx="272765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 they show</a:t>
            </a:r>
            <a:endParaRPr lang="en-US" sz="1800" dirty="0"/>
          </a:p>
        </p:txBody>
      </p:sp>
      <p:sp>
        <p:nvSpPr>
          <p:cNvPr id="9" name="Text 5"/>
          <p:cNvSpPr txBox="1"/>
          <p:nvPr/>
        </p:nvSpPr>
        <p:spPr>
          <a:xfrm>
            <a:off x="8065008" y="2167128"/>
            <a:ext cx="3376879"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Where the 3D encoder responds (Grad-CAM) and which temporal tokens each spatial token weights.</a:t>
            </a:r>
            <a:endParaRPr lang="en-US" sz="1400" dirty="0"/>
          </a:p>
        </p:txBody>
      </p:sp>
      <p:sp>
        <p:nvSpPr>
          <p:cNvPr id="10" name="what they do not show"/>
          <p:cNvSpPr/>
          <p:nvPr/>
        </p:nvSpPr>
        <p:spPr>
          <a:xfrm>
            <a:off x="7863840" y="3108960"/>
            <a:ext cx="3779215"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sp>
      <p:sp>
        <p:nvSpPr>
          <p:cNvPr id="11" name="warning badge"/>
          <p:cNvSpPr/>
          <p:nvPr/>
        </p:nvSpPr>
        <p:spPr>
          <a:xfrm>
            <a:off x="8065008" y="3310128"/>
            <a:ext cx="502920" cy="502920"/>
          </a:xfrm>
          <a:prstGeom prst="ellipse">
            <a:avLst/>
          </a:prstGeom>
          <a:solidFill>
            <a:schemeClr val="accent6"/>
          </a:solidFill>
          <a:ln/>
        </p:spPr>
      </p:sp>
      <p:pic>
        <p:nvPicPr>
          <p:cNvPr id="12" name="warning icon" descr="warning">    </p:cNvPr>
          <p:cNvPicPr>
            <a:picLocks noChangeAspect="1"/>
          </p:cNvPicPr>
          <p:nvPr/>
        </p:nvPicPr>
        <p:blipFill>
          <a:blip r:embed="rId3"/>
          <a:stretch>
            <a:fillRect/>
          </a:stretch>
        </p:blipFill>
        <p:spPr>
          <a:xfrm>
            <a:off x="8190738" y="3435858"/>
            <a:ext cx="251460" cy="251460"/>
          </a:xfrm>
          <a:prstGeom prst="rect">
            <a:avLst/>
          </a:prstGeom>
        </p:spPr>
      </p:pic>
      <p:sp>
        <p:nvSpPr>
          <p:cNvPr id="13" name="Text 8"/>
          <p:cNvSpPr txBox="1"/>
          <p:nvPr/>
        </p:nvSpPr>
        <p:spPr>
          <a:xfrm>
            <a:off x="8732520" y="3310128"/>
            <a:ext cx="272765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 they do not</a:t>
            </a:r>
            <a:endParaRPr lang="en-US" sz="1800" dirty="0"/>
          </a:p>
        </p:txBody>
      </p:sp>
      <p:sp>
        <p:nvSpPr>
          <p:cNvPr id="14" name="Text 9"/>
          <p:cNvSpPr txBox="1"/>
          <p:nvPr/>
        </p:nvSpPr>
        <p:spPr>
          <a:xfrm>
            <a:off x="8065008" y="3950208"/>
            <a:ext cx="3376879"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 causal or clinical explanation: attention and saliency are not automatically faithful.</a:t>
            </a:r>
            <a:endParaRPr lang="en-US" sz="1400" dirty="0"/>
          </a:p>
        </p:txBody>
      </p:sp>
      <p:sp>
        <p:nvSpPr>
          <p:cNvPr id="15" name="future sanity checks"/>
          <p:cNvSpPr/>
          <p:nvPr/>
        </p:nvSpPr>
        <p:spPr>
          <a:xfrm>
            <a:off x="548640" y="4983480"/>
            <a:ext cx="11094415" cy="1234440"/>
          </a:xfrm>
          <a:prstGeom prst="roundRect">
            <a:avLst>
              <a:gd name="adj" fmla="val 7407"/>
            </a:avLst>
          </a:prstGeom>
          <a:solidFill>
            <a:schemeClr val="tx2"/>
          </a:solidFill>
          <a:ln/>
          <a:effectLst>
            <a:outerShdw sx="100000" sy="100000" kx="0" ky="0" algn="bl" rotWithShape="0" blurRad="101600" dist="25400" dir="5400000">
              <a:srgbClr val="12232B">
                <a:alpha val="12000"/>
              </a:srgbClr>
            </a:outerShdw>
          </a:effectLst>
        </p:spPr>
      </p:sp>
      <p:sp>
        <p:nvSpPr>
          <p:cNvPr id="16" name="Text 11"/>
          <p:cNvSpPr txBox="1"/>
          <p:nvPr/>
        </p:nvSpPr>
        <p:spPr>
          <a:xfrm>
            <a:off x="914400" y="5074920"/>
            <a:ext cx="10362895" cy="105156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Planned: sanity checks of Grad-CAM and attention against clinician-marked regions, and tokens anchored to the VEP landmarks N75, P100 and N135.</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Synthetic data stands in for a cohort</a:t>
            </a:r>
            <a:endParaRPr lang="en-US" sz="3600" dirty="0"/>
          </a:p>
        </p:txBody>
      </p:sp>
      <p:sp>
        <p:nvSpPr>
          <p:cNvPr id="3" name="fig_synthetic_mri card"/>
          <p:cNvSpPr/>
          <p:nvPr/>
        </p:nvSpPr>
        <p:spPr>
          <a:xfrm>
            <a:off x="548640" y="1325880"/>
            <a:ext cx="5486400"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sp>
      <p:pic>
        <p:nvPicPr>
          <p:cNvPr id="4" name="fig_synthetic_mri" descr="fig synthetic mri">    </p:cNvPr>
          <p:cNvPicPr>
            <a:picLocks noChangeAspect="1"/>
          </p:cNvPicPr>
          <p:nvPr/>
        </p:nvPicPr>
        <p:blipFill>
          <a:blip r:embed="rId1"/>
          <a:stretch>
            <a:fillRect/>
          </a:stretch>
        </p:blipFill>
        <p:spPr>
          <a:xfrm>
            <a:off x="685800" y="1487370"/>
            <a:ext cx="5212080" cy="4002133"/>
          </a:xfrm>
          <a:prstGeom prst="rect">
            <a:avLst/>
          </a:prstGeom>
        </p:spPr>
      </p:pic>
      <p:sp>
        <p:nvSpPr>
          <p:cNvPr id="5" name="Text 2"/>
          <p:cNvSpPr txBox="1"/>
          <p:nvPr/>
        </p:nvSpPr>
        <p:spPr>
          <a:xfrm>
            <a:off x="731520" y="5605272"/>
            <a:ext cx="512064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MRI: N(100, 15²), 80×96×64. Glaucoma block ×0.4, Optic Neuritis/CVI block ×1.8 (dashed boxes).</a:t>
            </a:r>
            <a:endParaRPr lang="en-US" sz="1200" dirty="0"/>
          </a:p>
        </p:txBody>
      </p:sp>
      <p:sp>
        <p:nvSpPr>
          <p:cNvPr id="6" name="fig_vep_examples card"/>
          <p:cNvSpPr/>
          <p:nvPr/>
        </p:nvSpPr>
        <p:spPr>
          <a:xfrm>
            <a:off x="6309360" y="1325880"/>
            <a:ext cx="5333695"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sp>
      <p:pic>
        <p:nvPicPr>
          <p:cNvPr id="7" name="fig_vep_examples" descr="fig vep examples">    </p:cNvPr>
          <p:cNvPicPr>
            <a:picLocks noChangeAspect="1"/>
          </p:cNvPicPr>
          <p:nvPr/>
        </p:nvPicPr>
        <p:blipFill>
          <a:blip r:embed="rId2"/>
          <a:stretch>
            <a:fillRect/>
          </a:stretch>
        </p:blipFill>
        <p:spPr>
          <a:xfrm>
            <a:off x="6627753" y="1463040"/>
            <a:ext cx="4696910" cy="4050792"/>
          </a:xfrm>
          <a:prstGeom prst="rect">
            <a:avLst/>
          </a:prstGeom>
        </p:spPr>
      </p:pic>
      <p:sp>
        <p:nvSpPr>
          <p:cNvPr id="8" name="Text 4"/>
          <p:cNvSpPr txBox="1"/>
          <p:nvPr/>
        </p:nvSpPr>
        <p:spPr>
          <a:xfrm>
            <a:off x="6492240" y="5605272"/>
            <a:ext cx="4967935"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VEP: N75–P100–N145 Gaussians plus 0.3 Hz drift, 50 Hz mains and noise (SD 0.3); raw left, conditioned right.</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P100 recovered within one sample</a:t>
            </a:r>
            <a:endParaRPr lang="en-US" sz="3600" dirty="0"/>
          </a:p>
        </p:txBody>
      </p:sp>
      <p:sp>
        <p:nvSpPr>
          <p:cNvPr id="3" name="stat 149 / 150"/>
          <p:cNvSpPr/>
          <p:nvPr/>
        </p:nvSpPr>
        <p:spPr>
          <a:xfrm>
            <a:off x="548640" y="1325880"/>
            <a:ext cx="3246120" cy="1554480"/>
          </a:xfrm>
          <a:prstGeom prst="roundRect">
            <a:avLst>
              <a:gd name="adj" fmla="val 5882"/>
            </a:avLst>
          </a:prstGeom>
          <a:solidFill>
            <a:schemeClr val="bg1"/>
          </a:solidFill>
          <a:ln/>
          <a:effectLst>
            <a:outerShdw sx="100000" sy="100000" kx="0" ky="0" algn="bl" rotWithShape="0" blurRad="101600" dist="25400" dir="5400000">
              <a:srgbClr val="12232B">
                <a:alpha val="12000"/>
              </a:srgbClr>
            </a:outerShdw>
          </a:effectLst>
        </p:spPr>
      </p:sp>
      <p:sp>
        <p:nvSpPr>
          <p:cNvPr id="4" name="Text 2"/>
          <p:cNvSpPr txBox="1"/>
          <p:nvPr/>
        </p:nvSpPr>
        <p:spPr>
          <a:xfrm>
            <a:off x="777240" y="1483868"/>
            <a:ext cx="2788920" cy="72644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149 / 150</a:t>
            </a:r>
            <a:endParaRPr lang="en-US" sz="4400" dirty="0"/>
          </a:p>
        </p:txBody>
      </p:sp>
      <p:sp>
        <p:nvSpPr>
          <p:cNvPr id="5" name="Text 3"/>
          <p:cNvSpPr txBox="1"/>
          <p:nvPr/>
        </p:nvSpPr>
        <p:spPr>
          <a:xfrm>
            <a:off x="777240" y="2265172"/>
            <a:ext cx="278892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trials within 4 ms (one sample) of the ground truth</a:t>
            </a:r>
            <a:endParaRPr lang="en-US" sz="1400" dirty="0"/>
          </a:p>
        </p:txBody>
      </p:sp>
      <p:sp>
        <p:nvSpPr>
          <p:cNvPr id="6" name="stat 8 ms"/>
          <p:cNvSpPr/>
          <p:nvPr/>
        </p:nvSpPr>
        <p:spPr>
          <a:xfrm>
            <a:off x="548640" y="3017520"/>
            <a:ext cx="3246120" cy="1554480"/>
          </a:xfrm>
          <a:prstGeom prst="roundRect">
            <a:avLst>
              <a:gd name="adj" fmla="val 5882"/>
            </a:avLst>
          </a:prstGeom>
          <a:solidFill>
            <a:schemeClr val="bg1"/>
          </a:solidFill>
          <a:ln/>
          <a:effectLst>
            <a:outerShdw sx="100000" sy="100000" kx="0" ky="0" algn="bl" rotWithShape="0" blurRad="101600" dist="25400" dir="5400000">
              <a:srgbClr val="12232B">
                <a:alpha val="12000"/>
              </a:srgbClr>
            </a:outerShdw>
          </a:effectLst>
        </p:spPr>
      </p:sp>
      <p:sp>
        <p:nvSpPr>
          <p:cNvPr id="7" name="Text 5"/>
          <p:cNvSpPr txBox="1"/>
          <p:nvPr/>
        </p:nvSpPr>
        <p:spPr>
          <a:xfrm>
            <a:off x="777240" y="3175508"/>
            <a:ext cx="2788920" cy="726440"/>
          </a:xfrm>
          <a:prstGeom prst="rect">
            <a:avLst/>
          </a:prstGeom>
          <a:noFill/>
          <a:ln/>
        </p:spPr>
        <p:txBody>
          <a:bodyPr wrap="square" lIns="0" tIns="0" rIns="0" bIns="0" rtlCol="0" anchor="ctr"/>
          <a:lstStyle/>
          <a:p>
            <a:pPr indent="0" marL="0">
              <a:buNone/>
            </a:pPr>
            <a:r>
              <a:rPr lang="en-US" sz="4400" b="1" dirty="0">
                <a:solidFill>
                  <a:schemeClr val="accent6"/>
                </a:solidFill>
                <a:latin typeface="Cambria" pitchFamily="34" charset="0"/>
                <a:ea typeface="Cambria" pitchFamily="34" charset="-122"/>
                <a:cs typeface="Cambria" pitchFamily="34" charset="-120"/>
              </a:rPr>
              <a:t>8 ms</a:t>
            </a:r>
            <a:endParaRPr lang="en-US" sz="4400" dirty="0"/>
          </a:p>
        </p:txBody>
      </p:sp>
      <p:sp>
        <p:nvSpPr>
          <p:cNvPr id="8" name="Text 6"/>
          <p:cNvSpPr txBox="1"/>
          <p:nvPr/>
        </p:nvSpPr>
        <p:spPr>
          <a:xfrm>
            <a:off x="777240" y="3956812"/>
            <a:ext cx="278892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largest error: one Glaucoma trial</a:t>
            </a:r>
            <a:endParaRPr lang="en-US" sz="1400" dirty="0"/>
          </a:p>
        </p:txBody>
      </p:sp>
      <p:sp>
        <p:nvSpPr>
          <p:cNvPr id="9" name="stat ≤ 0.8 ms"/>
          <p:cNvSpPr/>
          <p:nvPr/>
        </p:nvSpPr>
        <p:spPr>
          <a:xfrm>
            <a:off x="548640" y="4709160"/>
            <a:ext cx="3246120" cy="1508760"/>
          </a:xfrm>
          <a:prstGeom prst="roundRect">
            <a:avLst>
              <a:gd name="adj" fmla="val 6061"/>
            </a:avLst>
          </a:prstGeom>
          <a:solidFill>
            <a:schemeClr val="bg1"/>
          </a:solidFill>
          <a:ln/>
          <a:effectLst>
            <a:outerShdw sx="100000" sy="100000" kx="0" ky="0" algn="bl" rotWithShape="0" blurRad="101600" dist="25400" dir="5400000">
              <a:srgbClr val="12232B">
                <a:alpha val="12000"/>
              </a:srgbClr>
            </a:outerShdw>
          </a:effectLst>
        </p:spPr>
      </p:sp>
      <p:sp>
        <p:nvSpPr>
          <p:cNvPr id="10" name="Text 8"/>
          <p:cNvSpPr txBox="1"/>
          <p:nvPr/>
        </p:nvSpPr>
        <p:spPr>
          <a:xfrm>
            <a:off x="777240" y="4877308"/>
            <a:ext cx="2788920" cy="660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 0.8 ms</a:t>
            </a:r>
            <a:endParaRPr lang="en-US" sz="4000" dirty="0"/>
          </a:p>
        </p:txBody>
      </p:sp>
      <p:sp>
        <p:nvSpPr>
          <p:cNvPr id="11" name="Text 9"/>
          <p:cNvSpPr txBox="1"/>
          <p:nvPr/>
        </p:nvSpPr>
        <p:spPr>
          <a:xfrm>
            <a:off x="777240" y="5592572"/>
            <a:ext cx="278892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class-mean offset from the true latency (zero-phase)</a:t>
            </a:r>
            <a:endParaRPr lang="en-US" sz="1400" dirty="0"/>
          </a:p>
        </p:txBody>
      </p:sp>
      <p:sp>
        <p:nvSpPr>
          <p:cNvPr id="12" name="p100 table card"/>
          <p:cNvSpPr/>
          <p:nvPr/>
        </p:nvSpPr>
        <p:spPr>
          <a:xfrm>
            <a:off x="4069080" y="1325880"/>
            <a:ext cx="7573975" cy="2148840"/>
          </a:xfrm>
          <a:prstGeom prst="roundRect">
            <a:avLst>
              <a:gd name="adj" fmla="val 4255"/>
            </a:avLst>
          </a:prstGeom>
          <a:solidFill>
            <a:schemeClr val="bg1"/>
          </a:solidFill>
          <a:ln/>
          <a:effectLst>
            <a:outerShdw sx="100000" sy="100000" kx="0" ky="0" algn="bl" rotWithShape="0" blurRad="101600" dist="25400" dir="5400000">
              <a:srgbClr val="12232B">
                <a:alpha val="12000"/>
              </a:srgbClr>
            </a:outerShdw>
          </a:effectLst>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251960" y="1463040"/>
          <a:ext cx="7208215" cy="914400"/>
        </p:xfrm>
        <a:graphic>
          <a:graphicData uri="http://schemas.openxmlformats.org/drawingml/2006/table">
            <a:tbl>
              <a:tblPr/>
              <a:tblGrid>
                <a:gridCol w="2167505"/>
                <a:gridCol w="806514"/>
                <a:gridCol w="1310585"/>
                <a:gridCol w="1461806"/>
                <a:gridCol w="1461806"/>
              </a:tblGrid>
              <a:tr h="393192">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True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Raw</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Zero-phase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Single-pass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Healthy Control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101.8 ± 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100.6 ± 1.9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101.1 ± 1.8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Glaucoma</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107.4 ± 2.7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108.0 ± 2.9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108.2 ± 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Optic Neuritis / CVI</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140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141.3 ± 2.5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140.8 ± 2.1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141.0 ± 2.7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4" name="Text 11"/>
          <p:cNvSpPr txBox="1"/>
          <p:nvPr/>
        </p:nvSpPr>
        <p:spPr>
          <a:xfrm>
            <a:off x="4251960" y="3108960"/>
            <a:ext cx="7208215" cy="274320"/>
          </a:xfrm>
          <a:prstGeom prst="rect">
            <a:avLst/>
          </a:prstGeom>
          <a:noFill/>
          <a:ln/>
        </p:spPr>
        <p:txBody>
          <a:bodyPr wrap="square" lIns="0" tIns="0" rIns="0" bIns="0" rtlCol="0" anchor="t"/>
          <a:lstStyle/>
          <a:p>
            <a:pPr indent="0" marL="0">
              <a:buNone/>
            </a:pPr>
            <a:r>
              <a:rPr lang="en-US" sz="1200" i="1" dirty="0">
                <a:solidFill>
                  <a:schemeClr val="tx2"/>
                </a:solidFill>
                <a:latin typeface="Calibri" pitchFamily="34" charset="0"/>
                <a:ea typeface="Calibri" pitchFamily="34" charset="-122"/>
                <a:cs typeface="Calibri" pitchFamily="34" charset="-120"/>
              </a:rPr>
              <a:t>Detected P100 latency in ms, mean ± SD, 50 trials per class at 250 Hz.</a:t>
            </a:r>
            <a:endParaRPr lang="en-US" sz="1200" dirty="0"/>
          </a:p>
        </p:txBody>
      </p:sp>
      <p:sp>
        <p:nvSpPr>
          <p:cNvPr id="15" name="fig_class_distributions card"/>
          <p:cNvSpPr/>
          <p:nvPr/>
        </p:nvSpPr>
        <p:spPr>
          <a:xfrm>
            <a:off x="4069080" y="3611880"/>
            <a:ext cx="7573975" cy="2606040"/>
          </a:xfrm>
          <a:prstGeom prst="roundRect">
            <a:avLst>
              <a:gd name="adj" fmla="val 3509"/>
            </a:avLst>
          </a:prstGeom>
          <a:solidFill>
            <a:schemeClr val="bg1"/>
          </a:solidFill>
          <a:ln/>
          <a:effectLst>
            <a:outerShdw sx="100000" sy="100000" kx="0" ky="0" algn="bl" rotWithShape="0" blurRad="101600" dist="25400" dir="5400000">
              <a:srgbClr val="12232B">
                <a:alpha val="12000"/>
              </a:srgbClr>
            </a:outerShdw>
          </a:effectLst>
        </p:spPr>
      </p:sp>
      <p:pic>
        <p:nvPicPr>
          <p:cNvPr id="16" name="fig_class_distributions" descr="fig class distributions">    </p:cNvPr>
          <p:cNvPicPr>
            <a:picLocks noChangeAspect="1"/>
          </p:cNvPicPr>
          <p:nvPr/>
        </p:nvPicPr>
        <p:blipFill>
          <a:blip r:embed="rId1"/>
          <a:stretch>
            <a:fillRect/>
          </a:stretch>
        </p:blipFill>
        <p:spPr>
          <a:xfrm>
            <a:off x="4821434" y="3749040"/>
            <a:ext cx="6069268" cy="233172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Zero-phase gain is not demonstrable</a:t>
            </a:r>
            <a:endParaRPr lang="en-US" sz="3600" dirty="0"/>
          </a:p>
        </p:txBody>
      </p:sp>
      <p:sp>
        <p:nvSpPr>
          <p:cNvPr id="3" name="fig_p100_shift card"/>
          <p:cNvSpPr/>
          <p:nvPr/>
        </p:nvSpPr>
        <p:spPr>
          <a:xfrm>
            <a:off x="548640" y="1325880"/>
            <a:ext cx="7772400" cy="3840480"/>
          </a:xfrm>
          <a:prstGeom prst="roundRect">
            <a:avLst>
              <a:gd name="adj" fmla="val 2381"/>
            </a:avLst>
          </a:prstGeom>
          <a:solidFill>
            <a:schemeClr val="bg1"/>
          </a:solidFill>
          <a:ln/>
          <a:effectLst>
            <a:outerShdw sx="100000" sy="100000" kx="0" ky="0" algn="bl" rotWithShape="0" blurRad="101600" dist="25400" dir="5400000">
              <a:srgbClr val="12232B">
                <a:alpha val="12000"/>
              </a:srgbClr>
            </a:outerShdw>
          </a:effectLst>
        </p:spPr>
      </p:sp>
      <p:pic>
        <p:nvPicPr>
          <p:cNvPr id="4" name="fig_p100_shift" descr="fig p100 shift">    </p:cNvPr>
          <p:cNvPicPr>
            <a:picLocks noChangeAspect="1"/>
          </p:cNvPicPr>
          <p:nvPr/>
        </p:nvPicPr>
        <p:blipFill>
          <a:blip r:embed="rId1"/>
          <a:stretch>
            <a:fillRect/>
          </a:stretch>
        </p:blipFill>
        <p:spPr>
          <a:xfrm>
            <a:off x="720002" y="1463040"/>
            <a:ext cx="7429676" cy="2999232"/>
          </a:xfrm>
          <a:prstGeom prst="rect">
            <a:avLst/>
          </a:prstGeom>
        </p:spPr>
      </p:pic>
      <p:sp>
        <p:nvSpPr>
          <p:cNvPr id="5" name="Text 2"/>
          <p:cNvSpPr txBox="1"/>
          <p:nvPr/>
        </p:nvSpPr>
        <p:spPr>
          <a:xfrm>
            <a:off x="731520" y="4553712"/>
            <a:ext cx="740664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Left: group delay of the single-pass filters vs the zero-phase pipeline. Right: mean P100 latency error by class.</a:t>
            </a:r>
            <a:endParaRPr lang="en-US" sz="1200" dirty="0"/>
          </a:p>
        </p:txBody>
      </p:sp>
      <p:sp>
        <p:nvSpPr>
          <p:cNvPr id="6" name="stat 6.1 / 3.1 / 2.8 ms"/>
          <p:cNvSpPr/>
          <p:nvPr/>
        </p:nvSpPr>
        <p:spPr>
          <a:xfrm>
            <a:off x="8595360" y="1325880"/>
            <a:ext cx="3047695" cy="1783080"/>
          </a:xfrm>
          <a:prstGeom prst="roundRect">
            <a:avLst>
              <a:gd name="adj" fmla="val 5128"/>
            </a:avLst>
          </a:prstGeom>
          <a:solidFill>
            <a:schemeClr val="bg1"/>
          </a:solidFill>
          <a:ln/>
          <a:effectLst>
            <a:outerShdw sx="100000" sy="100000" kx="0" ky="0" algn="bl" rotWithShape="0" blurRad="101600" dist="25400" dir="5400000">
              <a:srgbClr val="12232B">
                <a:alpha val="12000"/>
              </a:srgbClr>
            </a:outerShdw>
          </a:effectLst>
        </p:spPr>
      </p:sp>
      <p:sp>
        <p:nvSpPr>
          <p:cNvPr id="7" name="Text 4"/>
          <p:cNvSpPr txBox="1"/>
          <p:nvPr/>
        </p:nvSpPr>
        <p:spPr>
          <a:xfrm>
            <a:off x="8823960" y="1746758"/>
            <a:ext cx="2590495" cy="4292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6.1 / 3.1 / 2.8 ms</a:t>
            </a:r>
            <a:endParaRPr lang="en-US" sz="2600" dirty="0"/>
          </a:p>
        </p:txBody>
      </p:sp>
      <p:sp>
        <p:nvSpPr>
          <p:cNvPr id="8" name="Text 5"/>
          <p:cNvSpPr txBox="1"/>
          <p:nvPr/>
        </p:nvSpPr>
        <p:spPr>
          <a:xfrm>
            <a:off x="8823960" y="2230882"/>
            <a:ext cx="259049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single-pass group delay at 10 / 20 / 30 Hz</a:t>
            </a:r>
            <a:endParaRPr lang="en-US" sz="1400" dirty="0"/>
          </a:p>
        </p:txBody>
      </p:sp>
      <p:sp>
        <p:nvSpPr>
          <p:cNvPr id="9" name="stat &lt; 0.5 ms"/>
          <p:cNvSpPr/>
          <p:nvPr/>
        </p:nvSpPr>
        <p:spPr>
          <a:xfrm>
            <a:off x="8595360" y="3246120"/>
            <a:ext cx="3047695" cy="1920240"/>
          </a:xfrm>
          <a:prstGeom prst="roundRect">
            <a:avLst>
              <a:gd name="adj" fmla="val 4762"/>
            </a:avLst>
          </a:prstGeom>
          <a:solidFill>
            <a:schemeClr val="bg1"/>
          </a:solidFill>
          <a:ln/>
          <a:effectLst>
            <a:outerShdw sx="100000" sy="100000" kx="0" ky="0" algn="bl" rotWithShape="0" blurRad="101600" dist="25400" dir="5400000">
              <a:srgbClr val="12232B">
                <a:alpha val="12000"/>
              </a:srgbClr>
            </a:outerShdw>
          </a:effectLst>
        </p:spPr>
      </p:sp>
      <p:sp>
        <p:nvSpPr>
          <p:cNvPr id="10" name="Text 7"/>
          <p:cNvSpPr txBox="1"/>
          <p:nvPr/>
        </p:nvSpPr>
        <p:spPr>
          <a:xfrm>
            <a:off x="8823960" y="3538728"/>
            <a:ext cx="2590495" cy="5943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&lt; 0.5 ms</a:t>
            </a:r>
            <a:endParaRPr lang="en-US" sz="3600" dirty="0"/>
          </a:p>
        </p:txBody>
      </p:sp>
      <p:sp>
        <p:nvSpPr>
          <p:cNvPr id="11" name="Text 8"/>
          <p:cNvSpPr txBox="1"/>
          <p:nvPr/>
        </p:nvSpPr>
        <p:spPr>
          <a:xfrm>
            <a:off x="8823960" y="4187952"/>
            <a:ext cx="2590495" cy="7772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difference between zero-phase and single-pass class means, below one 4 ms sample</a:t>
            </a:r>
            <a:endParaRPr lang="en-US" sz="1400" dirty="0"/>
          </a:p>
        </p:txBody>
      </p:sp>
      <p:sp>
        <p:nvSpPr>
          <p:cNvPr id="12" name="why zero-phase"/>
          <p:cNvSpPr/>
          <p:nvPr/>
        </p:nvSpPr>
        <p:spPr>
          <a:xfrm>
            <a:off x="548640" y="5349240"/>
            <a:ext cx="11094415" cy="868680"/>
          </a:xfrm>
          <a:prstGeom prst="roundRect">
            <a:avLst>
              <a:gd name="adj" fmla="val 10526"/>
            </a:avLst>
          </a:prstGeom>
          <a:solidFill>
            <a:schemeClr val="tx2"/>
          </a:solidFill>
          <a:ln/>
          <a:effectLst>
            <a:outerShdw sx="100000" sy="100000" kx="0" ky="0" algn="bl" rotWithShape="0" blurRad="101600" dist="25400" dir="5400000">
              <a:srgbClr val="12232B">
                <a:alpha val="12000"/>
              </a:srgbClr>
            </a:outerShdw>
          </a:effectLst>
        </p:spPr>
      </p:sp>
      <p:sp>
        <p:nvSpPr>
          <p:cNvPr id="13" name="Text 10"/>
          <p:cNvSpPr txBox="1"/>
          <p:nvPr/>
        </p:nvSpPr>
        <p:spPr>
          <a:xfrm>
            <a:off x="914400" y="5394960"/>
            <a:ext cx="10362895" cy="77724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So why zero-phase? Latency is the clinical quantity, and the case rests on that principle, not on an empirical gain at 250 Hz.</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Compute sits in the early 3D layers</a:t>
            </a:r>
            <a:endParaRPr lang="en-US" sz="3600" dirty="0"/>
          </a:p>
        </p:txBody>
      </p:sp>
      <p:sp>
        <p:nvSpPr>
          <p:cNvPr id="3" name="fig_params card"/>
          <p:cNvSpPr/>
          <p:nvPr/>
        </p:nvSpPr>
        <p:spPr>
          <a:xfrm>
            <a:off x="548640" y="1325880"/>
            <a:ext cx="7772400" cy="3200400"/>
          </a:xfrm>
          <a:prstGeom prst="roundRect">
            <a:avLst>
              <a:gd name="adj" fmla="val 2857"/>
            </a:avLst>
          </a:prstGeom>
          <a:solidFill>
            <a:schemeClr val="bg1"/>
          </a:solidFill>
          <a:ln/>
          <a:effectLst>
            <a:outerShdw sx="100000" sy="100000" kx="0" ky="0" algn="bl" rotWithShape="0" blurRad="101600" dist="25400" dir="5400000">
              <a:srgbClr val="12232B">
                <a:alpha val="12000"/>
              </a:srgbClr>
            </a:outerShdw>
          </a:effectLst>
        </p:spPr>
      </p:sp>
      <p:pic>
        <p:nvPicPr>
          <p:cNvPr id="4" name="fig_params" descr="fig params">    </p:cNvPr>
          <p:cNvPicPr>
            <a:picLocks noChangeAspect="1"/>
          </p:cNvPicPr>
          <p:nvPr/>
        </p:nvPicPr>
        <p:blipFill>
          <a:blip r:embed="rId1"/>
          <a:stretch>
            <a:fillRect/>
          </a:stretch>
        </p:blipFill>
        <p:spPr>
          <a:xfrm>
            <a:off x="1370578" y="1463040"/>
            <a:ext cx="6128523" cy="2359152"/>
          </a:xfrm>
          <a:prstGeom prst="rect">
            <a:avLst/>
          </a:prstGeom>
        </p:spPr>
      </p:pic>
      <p:sp>
        <p:nvSpPr>
          <p:cNvPr id="5" name="Text 2"/>
          <p:cNvSpPr txBox="1"/>
          <p:nvPr/>
        </p:nvSpPr>
        <p:spPr>
          <a:xfrm>
            <a:off x="731520" y="3913632"/>
            <a:ext cx="740664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Left: trainable parameters by component. Right: multiply–accumulates per sample.</a:t>
            </a:r>
            <a:endParaRPr lang="en-US" sz="1200" dirty="0"/>
          </a:p>
        </p:txBody>
      </p:sp>
      <p:sp>
        <p:nvSpPr>
          <p:cNvPr id="6" name="stat 1.06 M"/>
          <p:cNvSpPr/>
          <p:nvPr/>
        </p:nvSpPr>
        <p:spPr>
          <a:xfrm>
            <a:off x="8595360" y="1325880"/>
            <a:ext cx="3047695" cy="1005840"/>
          </a:xfrm>
          <a:prstGeom prst="roundRect">
            <a:avLst>
              <a:gd name="adj" fmla="val 9091"/>
            </a:avLst>
          </a:prstGeom>
          <a:solidFill>
            <a:schemeClr val="bg1"/>
          </a:solidFill>
          <a:ln/>
          <a:effectLst>
            <a:outerShdw sx="100000" sy="100000" kx="0" ky="0" algn="bl" rotWithShape="0" blurRad="101600" dist="25400" dir="5400000">
              <a:srgbClr val="12232B">
                <a:alpha val="12000"/>
              </a:srgbClr>
            </a:outerShdw>
          </a:effectLst>
        </p:spPr>
      </p:sp>
      <p:sp>
        <p:nvSpPr>
          <p:cNvPr id="7" name="Text 4"/>
          <p:cNvSpPr txBox="1"/>
          <p:nvPr/>
        </p:nvSpPr>
        <p:spPr>
          <a:xfrm>
            <a:off x="8823960" y="1435608"/>
            <a:ext cx="2590495" cy="52832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1.06 M</a:t>
            </a:r>
            <a:endParaRPr lang="en-US" sz="3200" dirty="0"/>
          </a:p>
        </p:txBody>
      </p:sp>
      <p:sp>
        <p:nvSpPr>
          <p:cNvPr id="8" name="Text 5"/>
          <p:cNvSpPr txBox="1"/>
          <p:nvPr/>
        </p:nvSpPr>
        <p:spPr>
          <a:xfrm>
            <a:off x="8823960" y="2018792"/>
            <a:ext cx="2590495"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trainable parameters</a:t>
            </a:r>
            <a:endParaRPr lang="en-US" sz="1400" dirty="0"/>
          </a:p>
        </p:txBody>
      </p:sp>
      <p:sp>
        <p:nvSpPr>
          <p:cNvPr id="9" name="stat 2.53 G"/>
          <p:cNvSpPr/>
          <p:nvPr/>
        </p:nvSpPr>
        <p:spPr>
          <a:xfrm>
            <a:off x="8595360" y="2423160"/>
            <a:ext cx="3047695" cy="1005840"/>
          </a:xfrm>
          <a:prstGeom prst="roundRect">
            <a:avLst>
              <a:gd name="adj" fmla="val 9091"/>
            </a:avLst>
          </a:prstGeom>
          <a:solidFill>
            <a:schemeClr val="bg1"/>
          </a:solidFill>
          <a:ln/>
          <a:effectLst>
            <a:outerShdw sx="100000" sy="100000" kx="0" ky="0" algn="bl" rotWithShape="0" blurRad="101600" dist="25400" dir="5400000">
              <a:srgbClr val="12232B">
                <a:alpha val="12000"/>
              </a:srgbClr>
            </a:outerShdw>
          </a:effectLst>
        </p:spPr>
      </p:sp>
      <p:sp>
        <p:nvSpPr>
          <p:cNvPr id="10" name="Text 7"/>
          <p:cNvSpPr txBox="1"/>
          <p:nvPr/>
        </p:nvSpPr>
        <p:spPr>
          <a:xfrm>
            <a:off x="8823960" y="2532888"/>
            <a:ext cx="2590495" cy="5283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2.53 G</a:t>
            </a:r>
            <a:endParaRPr lang="en-US" sz="3200" dirty="0"/>
          </a:p>
        </p:txBody>
      </p:sp>
      <p:sp>
        <p:nvSpPr>
          <p:cNvPr id="11" name="Text 8"/>
          <p:cNvSpPr txBox="1"/>
          <p:nvPr/>
        </p:nvSpPr>
        <p:spPr>
          <a:xfrm>
            <a:off x="8823960" y="3116072"/>
            <a:ext cx="259049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multiply–accumulates per sample</a:t>
            </a:r>
            <a:endParaRPr lang="en-US" sz="1400" dirty="0"/>
          </a:p>
        </p:txBody>
      </p:sp>
      <p:sp>
        <p:nvSpPr>
          <p:cNvPr id="12" name="stat 82%"/>
          <p:cNvSpPr/>
          <p:nvPr/>
        </p:nvSpPr>
        <p:spPr>
          <a:xfrm>
            <a:off x="8595360" y="3520440"/>
            <a:ext cx="3047695" cy="1005840"/>
          </a:xfrm>
          <a:prstGeom prst="roundRect">
            <a:avLst>
              <a:gd name="adj" fmla="val 9091"/>
            </a:avLst>
          </a:prstGeom>
          <a:solidFill>
            <a:schemeClr val="bg1"/>
          </a:solidFill>
          <a:ln/>
          <a:effectLst>
            <a:outerShdw sx="100000" sy="100000" kx="0" ky="0" algn="bl" rotWithShape="0" blurRad="101600" dist="25400" dir="5400000">
              <a:srgbClr val="12232B">
                <a:alpha val="12000"/>
              </a:srgbClr>
            </a:outerShdw>
          </a:effectLst>
        </p:spPr>
      </p:sp>
      <p:sp>
        <p:nvSpPr>
          <p:cNvPr id="13" name="Text 10"/>
          <p:cNvSpPr txBox="1"/>
          <p:nvPr/>
        </p:nvSpPr>
        <p:spPr>
          <a:xfrm>
            <a:off x="8823960" y="3630168"/>
            <a:ext cx="2590495" cy="5283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82%</a:t>
            </a:r>
            <a:endParaRPr lang="en-US" sz="3200" dirty="0"/>
          </a:p>
        </p:txBody>
      </p:sp>
      <p:sp>
        <p:nvSpPr>
          <p:cNvPr id="14" name="Text 11"/>
          <p:cNvSpPr txBox="1"/>
          <p:nvPr/>
        </p:nvSpPr>
        <p:spPr>
          <a:xfrm>
            <a:off x="8823960" y="4213352"/>
            <a:ext cx="259049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of MACs in residual blocks 1–2</a:t>
            </a:r>
            <a:endParaRPr lang="en-US" sz="1400" dirty="0"/>
          </a:p>
        </p:txBody>
      </p:sp>
      <p:sp>
        <p:nvSpPr>
          <p:cNvPr id="15" name="cost takeaway"/>
          <p:cNvSpPr/>
          <p:nvPr/>
        </p:nvSpPr>
        <p:spPr>
          <a:xfrm>
            <a:off x="548640" y="4754880"/>
            <a:ext cx="11094415" cy="1463040"/>
          </a:xfrm>
          <a:prstGeom prst="roundRect">
            <a:avLst>
              <a:gd name="adj" fmla="val 6250"/>
            </a:avLst>
          </a:prstGeom>
          <a:solidFill>
            <a:schemeClr val="tx2"/>
          </a:solidFill>
          <a:ln/>
          <a:effectLst>
            <a:outerShdw sx="100000" sy="100000" kx="0" ky="0" algn="bl" rotWithShape="0" blurRad="101600" dist="25400" dir="5400000">
              <a:srgbClr val="12232B">
                <a:alpha val="12000"/>
              </a:srgbClr>
            </a:outerShdw>
          </a:effectLst>
        </p:spPr>
      </p:sp>
      <p:sp>
        <p:nvSpPr>
          <p:cNvPr id="16" name="Text 13"/>
          <p:cNvSpPr txBox="1"/>
          <p:nvPr/>
        </p:nvSpPr>
        <p:spPr>
          <a:xfrm>
            <a:off x="914400" y="4800600"/>
            <a:ext cx="10362895" cy="1371600"/>
          </a:xfrm>
          <a:prstGeom prst="rect">
            <a:avLst/>
          </a:prstGeom>
          <a:noFill/>
          <a:ln/>
        </p:spPr>
        <p:txBody>
          <a:bodyPr wrap="square" lIns="0" tIns="0" rIns="0" bIns="0" rtlCol="0" anchor="ctr"/>
          <a:lstStyle/>
          <a:p>
            <a:pPr indent="0" marL="0">
              <a:buNone/>
            </a:pPr>
            <a:r>
              <a:rPr lang="en-US" sz="2000" dirty="0">
                <a:solidFill>
                  <a:schemeClr val="bg1"/>
                </a:solidFill>
                <a:latin typeface="Cambria" pitchFamily="34" charset="0"/>
                <a:ea typeface="Cambria" pitchFamily="34" charset="-122"/>
                <a:cs typeface="Cambria" pitchFamily="34" charset="-120"/>
              </a:rPr>
              <a:t>Residual block 1 alone is 54% of the MACs. The fusion module holds 12.6% of the parameters but well under 1% of the compute, so speed-ups should target the early 3D stages.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86 tests, 95.1% statement coverage</a:t>
            </a:r>
            <a:endParaRPr lang="en-US" sz="3600" dirty="0"/>
          </a:p>
        </p:txBody>
      </p:sp>
      <p:sp>
        <p:nvSpPr>
          <p:cNvPr id="3" name="stat 86"/>
          <p:cNvSpPr/>
          <p:nvPr/>
        </p:nvSpPr>
        <p:spPr>
          <a:xfrm>
            <a:off x="548640" y="1325880"/>
            <a:ext cx="3200400"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sp>
      <p:sp>
        <p:nvSpPr>
          <p:cNvPr id="4" name="Text 2"/>
          <p:cNvSpPr txBox="1"/>
          <p:nvPr/>
        </p:nvSpPr>
        <p:spPr>
          <a:xfrm>
            <a:off x="777240" y="1458468"/>
            <a:ext cx="2743200"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86</a:t>
            </a:r>
            <a:endParaRPr lang="en-US" sz="3600" dirty="0"/>
          </a:p>
        </p:txBody>
      </p:sp>
      <p:sp>
        <p:nvSpPr>
          <p:cNvPr id="5" name="Text 3"/>
          <p:cNvSpPr txBox="1"/>
          <p:nvPr/>
        </p:nvSpPr>
        <p:spPr>
          <a:xfrm>
            <a:off x="777240" y="2107692"/>
            <a:ext cx="274320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tests: 78 unit and 8 integration, in 12 files</a:t>
            </a:r>
            <a:endParaRPr lang="en-US" sz="1400" dirty="0"/>
          </a:p>
        </p:txBody>
      </p:sp>
      <p:sp>
        <p:nvSpPr>
          <p:cNvPr id="6" name="stat 95.1%"/>
          <p:cNvSpPr/>
          <p:nvPr/>
        </p:nvSpPr>
        <p:spPr>
          <a:xfrm>
            <a:off x="548640" y="2834640"/>
            <a:ext cx="3200400"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sp>
      <p:sp>
        <p:nvSpPr>
          <p:cNvPr id="7" name="Text 5"/>
          <p:cNvSpPr txBox="1"/>
          <p:nvPr/>
        </p:nvSpPr>
        <p:spPr>
          <a:xfrm>
            <a:off x="777240" y="3081528"/>
            <a:ext cx="2743200"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95.1%</a:t>
            </a:r>
            <a:endParaRPr lang="en-US" sz="3600" dirty="0"/>
          </a:p>
        </p:txBody>
      </p:sp>
      <p:sp>
        <p:nvSpPr>
          <p:cNvPr id="8" name="Text 6"/>
          <p:cNvSpPr txBox="1"/>
          <p:nvPr/>
        </p:nvSpPr>
        <p:spPr>
          <a:xfrm>
            <a:off x="777240" y="3730752"/>
            <a:ext cx="2743200"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statement coverage (521 of 548)</a:t>
            </a:r>
            <a:endParaRPr lang="en-US" sz="1400" dirty="0"/>
          </a:p>
        </p:txBody>
      </p:sp>
      <p:sp>
        <p:nvSpPr>
          <p:cNvPr id="9" name="stat 8 of 12"/>
          <p:cNvSpPr/>
          <p:nvPr/>
        </p:nvSpPr>
        <p:spPr>
          <a:xfrm>
            <a:off x="548640" y="4343400"/>
            <a:ext cx="3200400"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sp>
      <p:sp>
        <p:nvSpPr>
          <p:cNvPr id="10" name="Text 8"/>
          <p:cNvSpPr txBox="1"/>
          <p:nvPr/>
        </p:nvSpPr>
        <p:spPr>
          <a:xfrm>
            <a:off x="777240" y="4475988"/>
            <a:ext cx="2743200"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8 of 12</a:t>
            </a:r>
            <a:endParaRPr lang="en-US" sz="3600" dirty="0"/>
          </a:p>
        </p:txBody>
      </p:sp>
      <p:sp>
        <p:nvSpPr>
          <p:cNvPr id="11" name="Text 9"/>
          <p:cNvSpPr txBox="1"/>
          <p:nvPr/>
        </p:nvSpPr>
        <p:spPr>
          <a:xfrm>
            <a:off x="777240" y="5125212"/>
            <a:ext cx="274320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modules fully covered; lowest is train.py (75.3%)</a:t>
            </a:r>
            <a:endParaRPr lang="en-US" sz="1400" dirty="0"/>
          </a:p>
        </p:txBody>
      </p:sp>
      <p:sp>
        <p:nvSpPr>
          <p:cNvPr id="12" name="fig_tests_coverage card"/>
          <p:cNvSpPr/>
          <p:nvPr/>
        </p:nvSpPr>
        <p:spPr>
          <a:xfrm>
            <a:off x="4023360" y="1325880"/>
            <a:ext cx="7619695" cy="4389120"/>
          </a:xfrm>
          <a:prstGeom prst="roundRect">
            <a:avLst>
              <a:gd name="adj" fmla="val 2083"/>
            </a:avLst>
          </a:prstGeom>
          <a:solidFill>
            <a:schemeClr val="bg1"/>
          </a:solidFill>
          <a:ln/>
          <a:effectLst>
            <a:outerShdw sx="100000" sy="100000" kx="0" ky="0" algn="bl" rotWithShape="0" blurRad="101600" dist="25400" dir="5400000">
              <a:srgbClr val="12232B">
                <a:alpha val="12000"/>
              </a:srgbClr>
            </a:outerShdw>
          </a:effectLst>
        </p:spPr>
      </p:sp>
      <p:pic>
        <p:nvPicPr>
          <p:cNvPr id="13" name="fig_tests_coverage" descr="fig tests coverage">    </p:cNvPr>
          <p:cNvPicPr>
            <a:picLocks noChangeAspect="1"/>
          </p:cNvPicPr>
          <p:nvPr/>
        </p:nvPicPr>
        <p:blipFill>
          <a:blip r:embed="rId1"/>
          <a:stretch>
            <a:fillRect/>
          </a:stretch>
        </p:blipFill>
        <p:spPr>
          <a:xfrm>
            <a:off x="4160520" y="1536025"/>
            <a:ext cx="7345375" cy="3401902"/>
          </a:xfrm>
          <a:prstGeom prst="rect">
            <a:avLst/>
          </a:prstGeom>
        </p:spPr>
      </p:pic>
      <p:sp>
        <p:nvSpPr>
          <p:cNvPr id="14" name="Text 11"/>
          <p:cNvSpPr txBox="1"/>
          <p:nvPr/>
        </p:nvSpPr>
        <p:spPr>
          <a:xfrm>
            <a:off x="4206240" y="5102352"/>
            <a:ext cx="7253935"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Left: test functions per file. Right: statement coverage per module.</a:t>
            </a:r>
            <a:endParaRPr lang="en-US" sz="1200" dirty="0"/>
          </a:p>
        </p:txBody>
      </p:sp>
      <p:sp>
        <p:nvSpPr>
          <p:cNvPr id="15" name="verification caveat"/>
          <p:cNvSpPr/>
          <p:nvPr/>
        </p:nvSpPr>
        <p:spPr>
          <a:xfrm>
            <a:off x="548640" y="5852160"/>
            <a:ext cx="11094415" cy="457200"/>
          </a:xfrm>
          <a:prstGeom prst="roundRect">
            <a:avLst>
              <a:gd name="adj" fmla="val 20000"/>
            </a:avLst>
          </a:prstGeom>
          <a:solidFill>
            <a:schemeClr val="bg2"/>
          </a:solidFill>
          <a:ln/>
        </p:spPr>
      </p:sp>
      <p:sp>
        <p:nvSpPr>
          <p:cNvPr id="16" name="Text 13"/>
          <p:cNvSpPr txBox="1"/>
          <p:nvPr/>
        </p:nvSpPr>
        <p:spPr>
          <a:xfrm>
            <a:off x="548640" y="5852160"/>
            <a:ext cx="11094415" cy="457200"/>
          </a:xfrm>
          <a:prstGeom prst="rect">
            <a:avLst/>
          </a:prstGeom>
          <a:noFill/>
          <a:ln/>
        </p:spPr>
        <p:txBody>
          <a:bodyPr wrap="square" lIns="0" tIns="0" rIns="0" bIns="0" rtlCol="0" anchor="ctr"/>
          <a:lstStyle/>
          <a:p>
            <a:pPr indent="0" marL="0">
              <a:buNone/>
            </a:pPr>
            <a:r>
              <a:rPr lang="en-US" sz="1400" i="1" dirty="0">
                <a:solidFill>
                  <a:schemeClr val="tx2"/>
                </a:solidFill>
                <a:latin typeface="Calibri" pitchFamily="34" charset="0"/>
                <a:ea typeface="Calibri" pitchFamily="34" charset="-122"/>
                <a:cs typeface="Calibri" pitchFamily="34" charset="-120"/>
              </a:rPr>
              <a:t>Counts and coverage come from the repository's recorded data; the tests were not re-run here because PyTorch was unavailable.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What the synthetic study taught us</a:t>
            </a:r>
            <a:endParaRPr lang="en-US" sz="3600" dirty="0"/>
          </a:p>
        </p:txBody>
      </p:sp>
      <p:sp>
        <p:nvSpPr>
          <p:cNvPr id="3" name="fig_token_time card"/>
          <p:cNvSpPr/>
          <p:nvPr/>
        </p:nvSpPr>
        <p:spPr>
          <a:xfrm>
            <a:off x="548640" y="1325880"/>
            <a:ext cx="7498080"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sp>
      <p:pic>
        <p:nvPicPr>
          <p:cNvPr id="4" name="fig_token_time" descr="fig token time">    </p:cNvPr>
          <p:cNvPicPr>
            <a:picLocks noChangeAspect="1"/>
          </p:cNvPicPr>
          <p:nvPr/>
        </p:nvPicPr>
        <p:blipFill>
          <a:blip r:embed="rId1"/>
          <a:stretch>
            <a:fillRect/>
          </a:stretch>
        </p:blipFill>
        <p:spPr>
          <a:xfrm>
            <a:off x="1502134" y="1463040"/>
            <a:ext cx="5591093" cy="2221992"/>
          </a:xfrm>
          <a:prstGeom prst="rect">
            <a:avLst/>
          </a:prstGeom>
        </p:spPr>
      </p:pic>
      <p:sp>
        <p:nvSpPr>
          <p:cNvPr id="5" name="Text 2"/>
          <p:cNvSpPr txBox="1"/>
          <p:nvPr/>
        </p:nvSpPr>
        <p:spPr>
          <a:xfrm>
            <a:off x="731520" y="3776472"/>
            <a:ext cx="713232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P100 at 100 ms and 108 ms both fall in token 0; 140 ms falls in token 1 (tokens span ≈125 ms).</a:t>
            </a:r>
            <a:endParaRPr lang="en-US" sz="1200" dirty="0"/>
          </a:p>
        </p:txBody>
      </p:sp>
      <p:sp>
        <p:nvSpPr>
          <p:cNvPr id="6" name="stat 0%"/>
          <p:cNvSpPr/>
          <p:nvPr/>
        </p:nvSpPr>
        <p:spPr>
          <a:xfrm>
            <a:off x="8321040" y="1325880"/>
            <a:ext cx="3322015"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sp>
      <p:sp>
        <p:nvSpPr>
          <p:cNvPr id="7" name="Text 4"/>
          <p:cNvSpPr txBox="1"/>
          <p:nvPr/>
        </p:nvSpPr>
        <p:spPr>
          <a:xfrm>
            <a:off x="8549640" y="2041398"/>
            <a:ext cx="2864815" cy="891540"/>
          </a:xfrm>
          <a:prstGeom prst="rect">
            <a:avLst/>
          </a:prstGeom>
          <a:noFill/>
          <a:ln/>
        </p:spPr>
        <p:txBody>
          <a:bodyPr wrap="square" lIns="0" tIns="0" rIns="0" bIns="0" rtlCol="0" anchor="ctr"/>
          <a:lstStyle/>
          <a:p>
            <a:pPr indent="0" marL="0">
              <a:buNone/>
            </a:pPr>
            <a:r>
              <a:rPr lang="en-US" sz="5400" b="1" dirty="0">
                <a:solidFill>
                  <a:schemeClr val="accent6"/>
                </a:solidFill>
                <a:latin typeface="Cambria" pitchFamily="34" charset="0"/>
                <a:ea typeface="Cambria" pitchFamily="34" charset="-122"/>
                <a:cs typeface="Cambria" pitchFamily="34" charset="-120"/>
              </a:rPr>
              <a:t>0%</a:t>
            </a:r>
            <a:endParaRPr lang="en-US" sz="5400" dirty="0"/>
          </a:p>
        </p:txBody>
      </p:sp>
      <p:sp>
        <p:nvSpPr>
          <p:cNvPr id="8" name="Text 5"/>
          <p:cNvSpPr txBox="1"/>
          <p:nvPr/>
        </p:nvSpPr>
        <p:spPr>
          <a:xfrm>
            <a:off x="8549640" y="2987802"/>
            <a:ext cx="2864815" cy="7772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of the Glaucoma atrophy block survives the 60th-percentile mask; 99.7% of the lesion block does</a:t>
            </a:r>
            <a:endParaRPr lang="en-US" sz="1400" dirty="0"/>
          </a:p>
        </p:txBody>
      </p:sp>
      <p:sp>
        <p:nvSpPr>
          <p:cNvPr id="9" name="observation 1"/>
          <p:cNvSpPr/>
          <p:nvPr/>
        </p:nvSpPr>
        <p:spPr>
          <a:xfrm>
            <a:off x="548640" y="4572000"/>
            <a:ext cx="3515258"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sp>
      <p:sp>
        <p:nvSpPr>
          <p:cNvPr id="10" name="The mask is not neutral badge"/>
          <p:cNvSpPr/>
          <p:nvPr/>
        </p:nvSpPr>
        <p:spPr>
          <a:xfrm>
            <a:off x="749808" y="4754880"/>
            <a:ext cx="457200" cy="457200"/>
          </a:xfrm>
          <a:prstGeom prst="ellipse">
            <a:avLst/>
          </a:prstGeom>
          <a:solidFill>
            <a:schemeClr val="accent6"/>
          </a:solidFill>
          <a:ln/>
        </p:spPr>
      </p:sp>
      <p:pic>
        <p:nvPicPr>
          <p:cNvPr id="11" name="The mask is not neutral icon" descr="The mask is not neutral">    </p:cNvPr>
          <p:cNvPicPr>
            <a:picLocks noChangeAspect="1"/>
          </p:cNvPicPr>
          <p:nvPr/>
        </p:nvPicPr>
        <p:blipFill>
          <a:blip r:embed="rId2"/>
          <a:stretch>
            <a:fillRect/>
          </a:stretch>
        </p:blipFill>
        <p:spPr>
          <a:xfrm>
            <a:off x="864108" y="4869180"/>
            <a:ext cx="228600" cy="228600"/>
          </a:xfrm>
          <a:prstGeom prst="rect">
            <a:avLst/>
          </a:prstGeom>
        </p:spPr>
      </p:pic>
      <p:sp>
        <p:nvSpPr>
          <p:cNvPr id="12" name="Text 8"/>
          <p:cNvSpPr txBox="1"/>
          <p:nvPr/>
        </p:nvSpPr>
        <p:spPr>
          <a:xfrm>
            <a:off x="1371600" y="4754880"/>
            <a:ext cx="2509418"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The mask is not neutral</a:t>
            </a:r>
            <a:endParaRPr lang="en-US" sz="1600" dirty="0"/>
          </a:p>
        </p:txBody>
      </p:sp>
      <p:sp>
        <p:nvSpPr>
          <p:cNvPr id="13" name="Text 9"/>
          <p:cNvSpPr txBox="1"/>
          <p:nvPr/>
        </p:nvSpPr>
        <p:spPr>
          <a:xfrm>
            <a:off x="749808" y="5321808"/>
            <a:ext cx="3112922" cy="8229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It zeroes exactly 60% of voxels, so validated skull-stripping is needed before conclusions about MRI.</a:t>
            </a:r>
            <a:endParaRPr lang="en-US" sz="1400" dirty="0"/>
          </a:p>
        </p:txBody>
      </p:sp>
      <p:sp>
        <p:nvSpPr>
          <p:cNvPr id="14" name="observation 2"/>
          <p:cNvSpPr/>
          <p:nvPr/>
        </p:nvSpPr>
        <p:spPr>
          <a:xfrm>
            <a:off x="4338218" y="4572000"/>
            <a:ext cx="3515258"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sp>
      <p:sp>
        <p:nvSpPr>
          <p:cNvPr id="15" name="Tokens are not time bins badge"/>
          <p:cNvSpPr/>
          <p:nvPr/>
        </p:nvSpPr>
        <p:spPr>
          <a:xfrm>
            <a:off x="4539386" y="4754880"/>
            <a:ext cx="457200" cy="457200"/>
          </a:xfrm>
          <a:prstGeom prst="ellipse">
            <a:avLst/>
          </a:prstGeom>
          <a:solidFill>
            <a:schemeClr val="accent2"/>
          </a:solidFill>
          <a:ln/>
        </p:spPr>
      </p:sp>
      <p:pic>
        <p:nvPicPr>
          <p:cNvPr id="16" name="Tokens are not time bins icon" descr="Tokens are not time bins">    </p:cNvPr>
          <p:cNvPicPr>
            <a:picLocks noChangeAspect="1"/>
          </p:cNvPicPr>
          <p:nvPr/>
        </p:nvPicPr>
        <p:blipFill>
          <a:blip r:embed="rId3"/>
          <a:stretch>
            <a:fillRect/>
          </a:stretch>
        </p:blipFill>
        <p:spPr>
          <a:xfrm>
            <a:off x="4653686" y="4869180"/>
            <a:ext cx="228600" cy="228600"/>
          </a:xfrm>
          <a:prstGeom prst="rect">
            <a:avLst/>
          </a:prstGeom>
        </p:spPr>
      </p:pic>
      <p:sp>
        <p:nvSpPr>
          <p:cNvPr id="17" name="Text 12"/>
          <p:cNvSpPr txBox="1"/>
          <p:nvPr/>
        </p:nvSpPr>
        <p:spPr>
          <a:xfrm>
            <a:off x="5161178" y="4754880"/>
            <a:ext cx="2509418"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Tokens are not time bins</a:t>
            </a:r>
            <a:endParaRPr lang="en-US" sz="1600" dirty="0"/>
          </a:p>
        </p:txBody>
      </p:sp>
      <p:sp>
        <p:nvSpPr>
          <p:cNvPr id="18" name="Text 13"/>
          <p:cNvSpPr txBox="1"/>
          <p:nvPr/>
        </p:nvSpPr>
        <p:spPr>
          <a:xfrm>
            <a:off x="4539386" y="5321808"/>
            <a:ext cx="3112922" cy="8229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Do not read attention at millisecond resolution; the 16 tokens are learned, uncalibrated features.</a:t>
            </a:r>
            <a:endParaRPr lang="en-US" sz="1400" dirty="0"/>
          </a:p>
        </p:txBody>
      </p:sp>
      <p:sp>
        <p:nvSpPr>
          <p:cNvPr id="19" name="observation 3"/>
          <p:cNvSpPr/>
          <p:nvPr/>
        </p:nvSpPr>
        <p:spPr>
          <a:xfrm>
            <a:off x="8127797" y="4572000"/>
            <a:ext cx="3515258"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sp>
      <p:sp>
        <p:nvSpPr>
          <p:cNvPr id="20" name="Optimise early 3D stages badge"/>
          <p:cNvSpPr/>
          <p:nvPr/>
        </p:nvSpPr>
        <p:spPr>
          <a:xfrm>
            <a:off x="8328965" y="4754880"/>
            <a:ext cx="457200" cy="457200"/>
          </a:xfrm>
          <a:prstGeom prst="ellipse">
            <a:avLst/>
          </a:prstGeom>
          <a:solidFill>
            <a:schemeClr val="accent3"/>
          </a:solidFill>
          <a:ln/>
        </p:spPr>
      </p:sp>
      <p:pic>
        <p:nvPicPr>
          <p:cNvPr id="21" name="Optimise early 3D stages icon" descr="Optimise early 3D stages">    </p:cNvPr>
          <p:cNvPicPr>
            <a:picLocks noChangeAspect="1"/>
          </p:cNvPicPr>
          <p:nvPr/>
        </p:nvPicPr>
        <p:blipFill>
          <a:blip r:embed="rId4"/>
          <a:stretch>
            <a:fillRect/>
          </a:stretch>
        </p:blipFill>
        <p:spPr>
          <a:xfrm>
            <a:off x="8443265" y="4869180"/>
            <a:ext cx="228600" cy="228600"/>
          </a:xfrm>
          <a:prstGeom prst="rect">
            <a:avLst/>
          </a:prstGeom>
        </p:spPr>
      </p:pic>
      <p:sp>
        <p:nvSpPr>
          <p:cNvPr id="22" name="Text 16"/>
          <p:cNvSpPr txBox="1"/>
          <p:nvPr/>
        </p:nvSpPr>
        <p:spPr>
          <a:xfrm>
            <a:off x="8950757" y="4754880"/>
            <a:ext cx="2509418"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Optimise early 3D stages</a:t>
            </a:r>
            <a:endParaRPr lang="en-US" sz="1600" dirty="0"/>
          </a:p>
        </p:txBody>
      </p:sp>
      <p:sp>
        <p:nvSpPr>
          <p:cNvPr id="23" name="Text 17"/>
          <p:cNvSpPr txBox="1"/>
          <p:nvPr/>
        </p:nvSpPr>
        <p:spPr>
          <a:xfrm>
            <a:off x="8328965" y="5321808"/>
            <a:ext cx="3112922" cy="8229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Compute concentrates in the first residual blocks, not in the fusion module.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Evidence: shown and not shown</a:t>
            </a:r>
            <a:endParaRPr lang="en-US" sz="3600" dirty="0"/>
          </a:p>
        </p:txBody>
      </p:sp>
      <p:sp>
        <p:nvSpPr>
          <p:cNvPr id="3" name="Verified card"/>
          <p:cNvSpPr/>
          <p:nvPr/>
        </p:nvSpPr>
        <p:spPr>
          <a:xfrm>
            <a:off x="548640" y="1325880"/>
            <a:ext cx="5410048"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sp>
      <p:sp>
        <p:nvSpPr>
          <p:cNvPr id="4" name="Verified badge"/>
          <p:cNvSpPr/>
          <p:nvPr/>
        </p:nvSpPr>
        <p:spPr>
          <a:xfrm>
            <a:off x="822960" y="1554480"/>
            <a:ext cx="594360" cy="594360"/>
          </a:xfrm>
          <a:prstGeom prst="ellipse">
            <a:avLst/>
          </a:prstGeom>
          <a:solidFill>
            <a:schemeClr val="accent4"/>
          </a:solidFill>
          <a:ln/>
        </p:spPr>
      </p:sp>
      <p:pic>
        <p:nvPicPr>
          <p:cNvPr id="5" name="Verified icon" descr="Verified">    </p:cNvPr>
          <p:cNvPicPr>
            <a:picLocks noChangeAspect="1"/>
          </p:cNvPicPr>
          <p:nvPr/>
        </p:nvPicPr>
        <p:blipFill>
          <a:blip r:embed="rId1"/>
          <a:stretch>
            <a:fillRect/>
          </a:stretch>
        </p:blipFill>
        <p:spPr>
          <a:xfrm>
            <a:off x="971550" y="1703070"/>
            <a:ext cx="297180" cy="297180"/>
          </a:xfrm>
          <a:prstGeom prst="rect">
            <a:avLst/>
          </a:prstGeom>
        </p:spPr>
      </p:pic>
      <p:sp>
        <p:nvSpPr>
          <p:cNvPr id="6" name="Text 3"/>
          <p:cNvSpPr txBox="1"/>
          <p:nvPr/>
        </p:nvSpPr>
        <p:spPr>
          <a:xfrm>
            <a:off x="1645920" y="1554480"/>
            <a:ext cx="4038448" cy="594360"/>
          </a:xfrm>
          <a:prstGeom prst="rect">
            <a:avLst/>
          </a:prstGeom>
          <a:noFill/>
          <a:ln/>
        </p:spPr>
        <p:txBody>
          <a:bodyPr wrap="square" lIns="0" tIns="0" rIns="0" bIns="0" rtlCol="0" anchor="ctr"/>
          <a:lstStyle/>
          <a:p>
            <a:pPr indent="0" marL="0">
              <a:buNone/>
            </a:pPr>
            <a:r>
              <a:rPr lang="en-US" sz="2400" b="1" dirty="0">
                <a:solidFill>
                  <a:schemeClr val="accent4"/>
                </a:solidFill>
                <a:latin typeface="Cambria" pitchFamily="34" charset="0"/>
                <a:ea typeface="Cambria" pitchFamily="34" charset="-122"/>
                <a:cs typeface="Cambria" pitchFamily="34" charset="-120"/>
              </a:rPr>
              <a:t>Verified</a:t>
            </a:r>
            <a:endParaRPr lang="en-US" sz="2400" dirty="0"/>
          </a:p>
        </p:txBody>
      </p:sp>
      <p:sp>
        <p:nvSpPr>
          <p:cNvPr id="7" name="Text 4"/>
          <p:cNvSpPr txBox="1"/>
          <p:nvPr/>
        </p:nvSpPr>
        <p:spPr>
          <a:xfrm>
            <a:off x="868680" y="2423160"/>
            <a:ext cx="4769968" cy="36118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Conditioning keeps P100 within 4 ms in 149 of 150 synthetic trials</a:t>
            </a:r>
            <a:endParaRPr lang="en-US" sz="1800" dirty="0"/>
          </a:p>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Mains interference reduced by 22 dB</a:t>
            </a:r>
            <a:endParaRPr lang="en-US" sz="1800" dirty="0"/>
          </a:p>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Model size and cost computed: 1.06 M parameters, 2.53 G MACs</a:t>
            </a:r>
            <a:endParaRPr lang="en-US" sz="1800" dirty="0"/>
          </a:p>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Statement coverage 95.1% recorded for an 86-test suite</a:t>
            </a:r>
            <a:endParaRPr lang="en-US" sz="1800" dirty="0"/>
          </a:p>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Generators and mask behave as specified</a:t>
            </a:r>
            <a:endParaRPr lang="en-US" sz="1800" dirty="0"/>
          </a:p>
        </p:txBody>
      </p:sp>
      <p:sp>
        <p:nvSpPr>
          <p:cNvPr id="8" name="Not shown card"/>
          <p:cNvSpPr/>
          <p:nvPr/>
        </p:nvSpPr>
        <p:spPr>
          <a:xfrm>
            <a:off x="6233008" y="1325880"/>
            <a:ext cx="5410048"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sp>
      <p:sp>
        <p:nvSpPr>
          <p:cNvPr id="9" name="Not shown badge"/>
          <p:cNvSpPr/>
          <p:nvPr/>
        </p:nvSpPr>
        <p:spPr>
          <a:xfrm>
            <a:off x="6507328" y="1554480"/>
            <a:ext cx="594360" cy="594360"/>
          </a:xfrm>
          <a:prstGeom prst="ellipse">
            <a:avLst/>
          </a:prstGeom>
          <a:solidFill>
            <a:schemeClr val="accent6"/>
          </a:solidFill>
          <a:ln/>
        </p:spPr>
      </p:sp>
      <p:pic>
        <p:nvPicPr>
          <p:cNvPr id="10" name="Not shown icon" descr="Not shown">    </p:cNvPr>
          <p:cNvPicPr>
            <a:picLocks noChangeAspect="1"/>
          </p:cNvPicPr>
          <p:nvPr/>
        </p:nvPicPr>
        <p:blipFill>
          <a:blip r:embed="rId2"/>
          <a:stretch>
            <a:fillRect/>
          </a:stretch>
        </p:blipFill>
        <p:spPr>
          <a:xfrm>
            <a:off x="6655918" y="1703070"/>
            <a:ext cx="297180" cy="297180"/>
          </a:xfrm>
          <a:prstGeom prst="rect">
            <a:avLst/>
          </a:prstGeom>
        </p:spPr>
      </p:pic>
      <p:sp>
        <p:nvSpPr>
          <p:cNvPr id="11" name="Text 7"/>
          <p:cNvSpPr txBox="1"/>
          <p:nvPr/>
        </p:nvSpPr>
        <p:spPr>
          <a:xfrm>
            <a:off x="7330288" y="1554480"/>
            <a:ext cx="4038448" cy="594360"/>
          </a:xfrm>
          <a:prstGeom prst="rect">
            <a:avLst/>
          </a:prstGeom>
          <a:noFill/>
          <a:ln/>
        </p:spPr>
        <p:txBody>
          <a:bodyPr wrap="square" lIns="0" tIns="0" rIns="0" bIns="0" rtlCol="0" anchor="ctr"/>
          <a:lstStyle/>
          <a:p>
            <a:pPr indent="0" marL="0">
              <a:buNone/>
            </a:pPr>
            <a:r>
              <a:rPr lang="en-US" sz="2400" b="1" dirty="0">
                <a:solidFill>
                  <a:schemeClr val="accent6"/>
                </a:solidFill>
                <a:latin typeface="Cambria" pitchFamily="34" charset="0"/>
                <a:ea typeface="Cambria" pitchFamily="34" charset="-122"/>
                <a:cs typeface="Cambria" pitchFamily="34" charset="-120"/>
              </a:rPr>
              <a:t>Not shown</a:t>
            </a:r>
            <a:endParaRPr lang="en-US" sz="2400" dirty="0"/>
          </a:p>
        </p:txBody>
      </p:sp>
      <p:sp>
        <p:nvSpPr>
          <p:cNvPr id="12" name="Text 8"/>
          <p:cNvSpPr txBox="1"/>
          <p:nvPr/>
        </p:nvSpPr>
        <p:spPr>
          <a:xfrm>
            <a:off x="6553048" y="2423160"/>
            <a:ext cx="4769968" cy="36118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No training run: no learning curves, accuracy, sensitivity or AUC</a:t>
            </a:r>
            <a:endParaRPr lang="en-US" sz="1800" dirty="0"/>
          </a:p>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Tests not re-executed here; counts come from repository records</a:t>
            </a:r>
            <a:endParaRPr lang="en-US" sz="1800" dirty="0"/>
          </a:p>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Nothing about real patients or generalisation</a:t>
            </a:r>
            <a:endParaRPr lang="en-US" sz="1800" dirty="0"/>
          </a:p>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No baselines or ablations, so the value of cross-attention is untested</a:t>
            </a:r>
            <a:endParaRPr lang="en-US" sz="1800" dirty="0"/>
          </a:p>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The foreground mask is a placeholder, not skull-stripping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Next: a labelled cohort and baselines</a:t>
            </a:r>
            <a:endParaRPr lang="en-US" sz="3600" dirty="0"/>
          </a:p>
        </p:txBody>
      </p:sp>
      <p:sp>
        <p:nvSpPr>
          <p:cNvPr id="3" name="step 1"/>
          <p:cNvSpPr/>
          <p:nvPr/>
        </p:nvSpPr>
        <p:spPr>
          <a:xfrm>
            <a:off x="548640"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sp>
      <p:sp>
        <p:nvSpPr>
          <p:cNvPr id="4" name="Train properly badge"/>
          <p:cNvSpPr/>
          <p:nvPr/>
        </p:nvSpPr>
        <p:spPr>
          <a:xfrm>
            <a:off x="1219170" y="1645920"/>
            <a:ext cx="731520" cy="731520"/>
          </a:xfrm>
          <a:prstGeom prst="ellipse">
            <a:avLst/>
          </a:prstGeom>
          <a:solidFill>
            <a:schemeClr val="accent1"/>
          </a:solidFill>
          <a:ln/>
        </p:spPr>
      </p:sp>
      <p:pic>
        <p:nvPicPr>
          <p:cNvPr id="5" name="Train properly icon" descr="Train properly">    </p:cNvPr>
          <p:cNvPicPr>
            <a:picLocks noChangeAspect="1"/>
          </p:cNvPicPr>
          <p:nvPr/>
        </p:nvPicPr>
        <p:blipFill>
          <a:blip r:embed="rId1"/>
          <a:stretch>
            <a:fillRect/>
          </a:stretch>
        </p:blipFill>
        <p:spPr>
          <a:xfrm>
            <a:off x="1402050" y="1828800"/>
            <a:ext cx="365760" cy="365760"/>
          </a:xfrm>
          <a:prstGeom prst="rect">
            <a:avLst/>
          </a:prstGeom>
        </p:spPr>
      </p:pic>
      <p:sp>
        <p:nvSpPr>
          <p:cNvPr id="6" name="Text 3"/>
          <p:cNvSpPr txBox="1"/>
          <p:nvPr/>
        </p:nvSpPr>
        <p:spPr>
          <a:xfrm>
            <a:off x="731520"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a:t>
            </a:r>
            <a:endParaRPr lang="en-US" sz="4000" dirty="0"/>
          </a:p>
        </p:txBody>
      </p:sp>
      <p:sp>
        <p:nvSpPr>
          <p:cNvPr id="7" name="Text 4"/>
          <p:cNvSpPr txBox="1"/>
          <p:nvPr/>
        </p:nvSpPr>
        <p:spPr>
          <a:xfrm>
            <a:off x="731520"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Train properly</a:t>
            </a:r>
            <a:endParaRPr lang="en-US" sz="1800" dirty="0"/>
          </a:p>
        </p:txBody>
      </p:sp>
      <p:sp>
        <p:nvSpPr>
          <p:cNvPr id="8" name="Text 5"/>
          <p:cNvSpPr txBox="1"/>
          <p:nvPr/>
        </p:nvSpPr>
        <p:spPr>
          <a:xfrm>
            <a:off x="749808"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Patient-level splits; report sensitivity, specificity, AUC and calibration.</a:t>
            </a:r>
            <a:endParaRPr lang="en-US" sz="1600" dirty="0"/>
          </a:p>
        </p:txBody>
      </p:sp>
      <p:sp>
        <p:nvSpPr>
          <p:cNvPr id="9" name="step 2"/>
          <p:cNvSpPr/>
          <p:nvPr/>
        </p:nvSpPr>
        <p:spPr>
          <a:xfrm>
            <a:off x="2804099"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sp>
      <p:sp>
        <p:nvSpPr>
          <p:cNvPr id="10" name="Add baselines badge"/>
          <p:cNvSpPr/>
          <p:nvPr/>
        </p:nvSpPr>
        <p:spPr>
          <a:xfrm>
            <a:off x="3474629" y="1645920"/>
            <a:ext cx="731520" cy="731520"/>
          </a:xfrm>
          <a:prstGeom prst="ellipse">
            <a:avLst/>
          </a:prstGeom>
          <a:solidFill>
            <a:schemeClr val="accent3"/>
          </a:solidFill>
          <a:ln/>
        </p:spPr>
      </p:sp>
      <p:pic>
        <p:nvPicPr>
          <p:cNvPr id="11" name="Add baselines icon" descr="Add baselines">    </p:cNvPr>
          <p:cNvPicPr>
            <a:picLocks noChangeAspect="1"/>
          </p:cNvPicPr>
          <p:nvPr/>
        </p:nvPicPr>
        <p:blipFill>
          <a:blip r:embed="rId2"/>
          <a:stretch>
            <a:fillRect/>
          </a:stretch>
        </p:blipFill>
        <p:spPr>
          <a:xfrm>
            <a:off x="3657509" y="1828800"/>
            <a:ext cx="365760" cy="365760"/>
          </a:xfrm>
          <a:prstGeom prst="rect">
            <a:avLst/>
          </a:prstGeom>
        </p:spPr>
      </p:pic>
      <p:sp>
        <p:nvSpPr>
          <p:cNvPr id="12" name="Text 8"/>
          <p:cNvSpPr txBox="1"/>
          <p:nvPr/>
        </p:nvSpPr>
        <p:spPr>
          <a:xfrm>
            <a:off x="2986979"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2</a:t>
            </a:r>
            <a:endParaRPr lang="en-US" sz="4000" dirty="0"/>
          </a:p>
        </p:txBody>
      </p:sp>
      <p:sp>
        <p:nvSpPr>
          <p:cNvPr id="13" name="Text 9"/>
          <p:cNvSpPr txBox="1"/>
          <p:nvPr/>
        </p:nvSpPr>
        <p:spPr>
          <a:xfrm>
            <a:off x="2986979"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Add baselines</a:t>
            </a:r>
            <a:endParaRPr lang="en-US" sz="1800" dirty="0"/>
          </a:p>
        </p:txBody>
      </p:sp>
      <p:sp>
        <p:nvSpPr>
          <p:cNvPr id="14" name="Text 10"/>
          <p:cNvSpPr txBox="1"/>
          <p:nvPr/>
        </p:nvSpPr>
        <p:spPr>
          <a:xfrm>
            <a:off x="3005267"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Unimodal and concatenation models; ablate the auxiliary loss and token counts.</a:t>
            </a:r>
            <a:endParaRPr lang="en-US" sz="1600" dirty="0"/>
          </a:p>
        </p:txBody>
      </p:sp>
      <p:sp>
        <p:nvSpPr>
          <p:cNvPr id="15" name="step 3"/>
          <p:cNvSpPr/>
          <p:nvPr/>
        </p:nvSpPr>
        <p:spPr>
          <a:xfrm>
            <a:off x="5059558"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sp>
      <p:sp>
        <p:nvSpPr>
          <p:cNvPr id="16" name="Validate masking badge"/>
          <p:cNvSpPr/>
          <p:nvPr/>
        </p:nvSpPr>
        <p:spPr>
          <a:xfrm>
            <a:off x="5730088" y="1645920"/>
            <a:ext cx="731520" cy="731520"/>
          </a:xfrm>
          <a:prstGeom prst="ellipse">
            <a:avLst/>
          </a:prstGeom>
          <a:solidFill>
            <a:schemeClr val="accent2"/>
          </a:solidFill>
          <a:ln/>
        </p:spPr>
      </p:sp>
      <p:pic>
        <p:nvPicPr>
          <p:cNvPr id="17" name="Validate masking icon" descr="Validate masking">    </p:cNvPr>
          <p:cNvPicPr>
            <a:picLocks noChangeAspect="1"/>
          </p:cNvPicPr>
          <p:nvPr/>
        </p:nvPicPr>
        <p:blipFill>
          <a:blip r:embed="rId3"/>
          <a:stretch>
            <a:fillRect/>
          </a:stretch>
        </p:blipFill>
        <p:spPr>
          <a:xfrm>
            <a:off x="5912968" y="1828800"/>
            <a:ext cx="365760" cy="365760"/>
          </a:xfrm>
          <a:prstGeom prst="rect">
            <a:avLst/>
          </a:prstGeom>
        </p:spPr>
      </p:pic>
      <p:sp>
        <p:nvSpPr>
          <p:cNvPr id="18" name="Text 13"/>
          <p:cNvSpPr txBox="1"/>
          <p:nvPr/>
        </p:nvSpPr>
        <p:spPr>
          <a:xfrm>
            <a:off x="5242438"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3</a:t>
            </a:r>
            <a:endParaRPr lang="en-US" sz="4000" dirty="0"/>
          </a:p>
        </p:txBody>
      </p:sp>
      <p:sp>
        <p:nvSpPr>
          <p:cNvPr id="19" name="Text 14"/>
          <p:cNvSpPr txBox="1"/>
          <p:nvPr/>
        </p:nvSpPr>
        <p:spPr>
          <a:xfrm>
            <a:off x="5242438"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Validate masking</a:t>
            </a:r>
            <a:endParaRPr lang="en-US" sz="1800" dirty="0"/>
          </a:p>
        </p:txBody>
      </p:sp>
      <p:sp>
        <p:nvSpPr>
          <p:cNvPr id="20" name="Text 15"/>
          <p:cNvSpPr txBox="1"/>
          <p:nvPr/>
        </p:nvSpPr>
        <p:spPr>
          <a:xfrm>
            <a:off x="5260726"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Replace the percentile mask with validated skull-stripping.</a:t>
            </a:r>
            <a:endParaRPr lang="en-US" sz="1600" dirty="0"/>
          </a:p>
        </p:txBody>
      </p:sp>
      <p:sp>
        <p:nvSpPr>
          <p:cNvPr id="21" name="step 4"/>
          <p:cNvSpPr/>
          <p:nvPr/>
        </p:nvSpPr>
        <p:spPr>
          <a:xfrm>
            <a:off x="7315017"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sp>
      <p:sp>
        <p:nvSpPr>
          <p:cNvPr id="22" name="Check explanations badge"/>
          <p:cNvSpPr/>
          <p:nvPr/>
        </p:nvSpPr>
        <p:spPr>
          <a:xfrm>
            <a:off x="7985547" y="1645920"/>
            <a:ext cx="731520" cy="731520"/>
          </a:xfrm>
          <a:prstGeom prst="ellipse">
            <a:avLst/>
          </a:prstGeom>
          <a:solidFill>
            <a:schemeClr val="accent5"/>
          </a:solidFill>
          <a:ln/>
        </p:spPr>
      </p:sp>
      <p:pic>
        <p:nvPicPr>
          <p:cNvPr id="23" name="Check explanations icon" descr="Check explanations">    </p:cNvPr>
          <p:cNvPicPr>
            <a:picLocks noChangeAspect="1"/>
          </p:cNvPicPr>
          <p:nvPr/>
        </p:nvPicPr>
        <p:blipFill>
          <a:blip r:embed="rId4"/>
          <a:stretch>
            <a:fillRect/>
          </a:stretch>
        </p:blipFill>
        <p:spPr>
          <a:xfrm>
            <a:off x="8168427" y="1828800"/>
            <a:ext cx="365760" cy="365760"/>
          </a:xfrm>
          <a:prstGeom prst="rect">
            <a:avLst/>
          </a:prstGeom>
        </p:spPr>
      </p:pic>
      <p:sp>
        <p:nvSpPr>
          <p:cNvPr id="24" name="Text 18"/>
          <p:cNvSpPr txBox="1"/>
          <p:nvPr/>
        </p:nvSpPr>
        <p:spPr>
          <a:xfrm>
            <a:off x="7497897"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5"/>
                </a:solidFill>
                <a:latin typeface="Cambria" pitchFamily="34" charset="0"/>
                <a:ea typeface="Cambria" pitchFamily="34" charset="-122"/>
                <a:cs typeface="Cambria" pitchFamily="34" charset="-120"/>
              </a:rPr>
              <a:t>4</a:t>
            </a:r>
            <a:endParaRPr lang="en-US" sz="4000" dirty="0"/>
          </a:p>
        </p:txBody>
      </p:sp>
      <p:sp>
        <p:nvSpPr>
          <p:cNvPr id="25" name="Text 19"/>
          <p:cNvSpPr txBox="1"/>
          <p:nvPr/>
        </p:nvSpPr>
        <p:spPr>
          <a:xfrm>
            <a:off x="7497897"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Check explanations</a:t>
            </a:r>
            <a:endParaRPr lang="en-US" sz="1800" dirty="0"/>
          </a:p>
        </p:txBody>
      </p:sp>
      <p:sp>
        <p:nvSpPr>
          <p:cNvPr id="26" name="Text 20"/>
          <p:cNvSpPr txBox="1"/>
          <p:nvPr/>
        </p:nvSpPr>
        <p:spPr>
          <a:xfrm>
            <a:off x="7516185"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Compare Grad-CAM and attention with clinician-marked regions.</a:t>
            </a:r>
            <a:endParaRPr lang="en-US" sz="1600" dirty="0"/>
          </a:p>
        </p:txBody>
      </p:sp>
      <p:sp>
        <p:nvSpPr>
          <p:cNvPr id="27" name="step 5"/>
          <p:cNvSpPr/>
          <p:nvPr/>
        </p:nvSpPr>
        <p:spPr>
          <a:xfrm>
            <a:off x="9570476"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sp>
      <p:sp>
        <p:nvSpPr>
          <p:cNvPr id="28" name="Ground the tokens badge"/>
          <p:cNvSpPr/>
          <p:nvPr/>
        </p:nvSpPr>
        <p:spPr>
          <a:xfrm>
            <a:off x="10241006" y="1645920"/>
            <a:ext cx="731520" cy="731520"/>
          </a:xfrm>
          <a:prstGeom prst="ellipse">
            <a:avLst/>
          </a:prstGeom>
          <a:solidFill>
            <a:schemeClr val="accent4"/>
          </a:solidFill>
          <a:ln/>
        </p:spPr>
      </p:sp>
      <p:pic>
        <p:nvPicPr>
          <p:cNvPr id="29" name="Ground the tokens icon" descr="Ground the tokens">    </p:cNvPr>
          <p:cNvPicPr>
            <a:picLocks noChangeAspect="1"/>
          </p:cNvPicPr>
          <p:nvPr/>
        </p:nvPicPr>
        <p:blipFill>
          <a:blip r:embed="rId5"/>
          <a:stretch>
            <a:fillRect/>
          </a:stretch>
        </p:blipFill>
        <p:spPr>
          <a:xfrm>
            <a:off x="10423886" y="1828800"/>
            <a:ext cx="365760" cy="365760"/>
          </a:xfrm>
          <a:prstGeom prst="rect">
            <a:avLst/>
          </a:prstGeom>
        </p:spPr>
      </p:pic>
      <p:sp>
        <p:nvSpPr>
          <p:cNvPr id="30" name="Text 23"/>
          <p:cNvSpPr txBox="1"/>
          <p:nvPr/>
        </p:nvSpPr>
        <p:spPr>
          <a:xfrm>
            <a:off x="9753356"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4"/>
                </a:solidFill>
                <a:latin typeface="Cambria" pitchFamily="34" charset="0"/>
                <a:ea typeface="Cambria" pitchFamily="34" charset="-122"/>
                <a:cs typeface="Cambria" pitchFamily="34" charset="-120"/>
              </a:rPr>
              <a:t>5</a:t>
            </a:r>
            <a:endParaRPr lang="en-US" sz="4000" dirty="0"/>
          </a:p>
        </p:txBody>
      </p:sp>
      <p:sp>
        <p:nvSpPr>
          <p:cNvPr id="31" name="Text 24"/>
          <p:cNvSpPr txBox="1"/>
          <p:nvPr/>
        </p:nvSpPr>
        <p:spPr>
          <a:xfrm>
            <a:off x="9753356"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Ground the tokens</a:t>
            </a:r>
            <a:endParaRPr lang="en-US" sz="1800" dirty="0"/>
          </a:p>
        </p:txBody>
      </p:sp>
      <p:sp>
        <p:nvSpPr>
          <p:cNvPr id="32" name="Text 25"/>
          <p:cNvSpPr txBox="1"/>
          <p:nvPr/>
        </p:nvSpPr>
        <p:spPr>
          <a:xfrm>
            <a:off x="9771644"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Align temporal tokens with VEP landmarks N75, P100 and N135.</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A tested foundation, not a diagnostic claim</a:t>
            </a:r>
            <a:endParaRPr lang="en-US" sz="3600" dirty="0"/>
          </a:p>
        </p:txBody>
      </p:sp>
      <p:sp>
        <p:nvSpPr>
          <p:cNvPr id="3" name="key number 1"/>
          <p:cNvSpPr/>
          <p:nvPr/>
        </p:nvSpPr>
        <p:spPr>
          <a:xfrm>
            <a:off x="548640" y="1554480"/>
            <a:ext cx="2602154" cy="2011680"/>
          </a:xfrm>
          <a:prstGeom prst="roundRect">
            <a:avLst>
              <a:gd name="adj" fmla="val 4545"/>
            </a:avLst>
          </a:prstGeom>
          <a:solidFill>
            <a:schemeClr val="tx2"/>
          </a:solidFill>
          <a:ln/>
        </p:spPr>
      </p:sp>
      <p:sp>
        <p:nvSpPr>
          <p:cNvPr id="4" name="Text 2"/>
          <p:cNvSpPr txBox="1"/>
          <p:nvPr/>
        </p:nvSpPr>
        <p:spPr>
          <a:xfrm>
            <a:off x="731520"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149/150</a:t>
            </a:r>
            <a:endParaRPr lang="en-US" sz="4000" dirty="0"/>
          </a:p>
        </p:txBody>
      </p:sp>
      <p:sp>
        <p:nvSpPr>
          <p:cNvPr id="5" name="Text 3"/>
          <p:cNvSpPr txBox="1"/>
          <p:nvPr/>
        </p:nvSpPr>
        <p:spPr>
          <a:xfrm>
            <a:off x="731520"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P100 trials within one sample</a:t>
            </a:r>
            <a:endParaRPr lang="en-US" sz="1600" dirty="0"/>
          </a:p>
        </p:txBody>
      </p:sp>
      <p:sp>
        <p:nvSpPr>
          <p:cNvPr id="6" name="key number 2"/>
          <p:cNvSpPr/>
          <p:nvPr/>
        </p:nvSpPr>
        <p:spPr>
          <a:xfrm>
            <a:off x="3379394" y="1554480"/>
            <a:ext cx="2602154" cy="2011680"/>
          </a:xfrm>
          <a:prstGeom prst="roundRect">
            <a:avLst>
              <a:gd name="adj" fmla="val 4545"/>
            </a:avLst>
          </a:prstGeom>
          <a:solidFill>
            <a:schemeClr val="tx2"/>
          </a:solidFill>
          <a:ln/>
        </p:spPr>
      </p:sp>
      <p:sp>
        <p:nvSpPr>
          <p:cNvPr id="7" name="Text 5"/>
          <p:cNvSpPr txBox="1"/>
          <p:nvPr/>
        </p:nvSpPr>
        <p:spPr>
          <a:xfrm>
            <a:off x="3562274"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22 dB</a:t>
            </a:r>
            <a:endParaRPr lang="en-US" sz="4000" dirty="0"/>
          </a:p>
        </p:txBody>
      </p:sp>
      <p:sp>
        <p:nvSpPr>
          <p:cNvPr id="8" name="Text 6"/>
          <p:cNvSpPr txBox="1"/>
          <p:nvPr/>
        </p:nvSpPr>
        <p:spPr>
          <a:xfrm>
            <a:off x="3562274"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mains interference removed</a:t>
            </a:r>
            <a:endParaRPr lang="en-US" sz="1600" dirty="0"/>
          </a:p>
        </p:txBody>
      </p:sp>
      <p:sp>
        <p:nvSpPr>
          <p:cNvPr id="9" name="key number 3"/>
          <p:cNvSpPr/>
          <p:nvPr/>
        </p:nvSpPr>
        <p:spPr>
          <a:xfrm>
            <a:off x="6210148" y="1554480"/>
            <a:ext cx="2602154" cy="2011680"/>
          </a:xfrm>
          <a:prstGeom prst="roundRect">
            <a:avLst>
              <a:gd name="adj" fmla="val 4545"/>
            </a:avLst>
          </a:prstGeom>
          <a:solidFill>
            <a:schemeClr val="tx2"/>
          </a:solidFill>
          <a:ln/>
        </p:spPr>
      </p:sp>
      <p:sp>
        <p:nvSpPr>
          <p:cNvPr id="10" name="Text 8"/>
          <p:cNvSpPr txBox="1"/>
          <p:nvPr/>
        </p:nvSpPr>
        <p:spPr>
          <a:xfrm>
            <a:off x="6393028"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1.06 M</a:t>
            </a:r>
            <a:endParaRPr lang="en-US" sz="4000" dirty="0"/>
          </a:p>
        </p:txBody>
      </p:sp>
      <p:sp>
        <p:nvSpPr>
          <p:cNvPr id="11" name="Text 9"/>
          <p:cNvSpPr txBox="1"/>
          <p:nvPr/>
        </p:nvSpPr>
        <p:spPr>
          <a:xfrm>
            <a:off x="6393028"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parameters, 2.53 G MACs</a:t>
            </a:r>
            <a:endParaRPr lang="en-US" sz="1600" dirty="0"/>
          </a:p>
        </p:txBody>
      </p:sp>
      <p:sp>
        <p:nvSpPr>
          <p:cNvPr id="12" name="key number 4"/>
          <p:cNvSpPr/>
          <p:nvPr/>
        </p:nvSpPr>
        <p:spPr>
          <a:xfrm>
            <a:off x="9040901" y="1554480"/>
            <a:ext cx="2602154" cy="2011680"/>
          </a:xfrm>
          <a:prstGeom prst="roundRect">
            <a:avLst>
              <a:gd name="adj" fmla="val 4545"/>
            </a:avLst>
          </a:prstGeom>
          <a:solidFill>
            <a:schemeClr val="tx2"/>
          </a:solidFill>
          <a:ln/>
        </p:spPr>
      </p:sp>
      <p:sp>
        <p:nvSpPr>
          <p:cNvPr id="13" name="Text 11"/>
          <p:cNvSpPr txBox="1"/>
          <p:nvPr/>
        </p:nvSpPr>
        <p:spPr>
          <a:xfrm>
            <a:off x="9223781"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95.1%</a:t>
            </a:r>
            <a:endParaRPr lang="en-US" sz="4000" dirty="0"/>
          </a:p>
        </p:txBody>
      </p:sp>
      <p:sp>
        <p:nvSpPr>
          <p:cNvPr id="14" name="Text 12"/>
          <p:cNvSpPr txBox="1"/>
          <p:nvPr/>
        </p:nvSpPr>
        <p:spPr>
          <a:xfrm>
            <a:off x="9223781"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statement coverage, 86 tests</a:t>
            </a:r>
            <a:endParaRPr lang="en-US" sz="1600" dirty="0"/>
          </a:p>
        </p:txBody>
      </p:sp>
      <p:sp>
        <p:nvSpPr>
          <p:cNvPr id="15" name="Text 13"/>
          <p:cNvSpPr txBox="1"/>
          <p:nvPr/>
        </p:nvSpPr>
        <p:spPr>
          <a:xfrm>
            <a:off x="548640" y="3931920"/>
            <a:ext cx="11094415" cy="1097280"/>
          </a:xfrm>
          <a:prstGeom prst="rect">
            <a:avLst/>
          </a:prstGeom>
          <a:noFill/>
          <a:ln/>
        </p:spPr>
        <p:txBody>
          <a:bodyPr wrap="square" lIns="0" tIns="0" rIns="0" bIns="0" rtlCol="0" anchor="t"/>
          <a:lstStyle/>
          <a:p>
            <a:pPr indent="0" marL="0">
              <a:buNone/>
            </a:pPr>
            <a:r>
              <a:rPr lang="en-US" sz="2000" dirty="0">
                <a:solidFill>
                  <a:schemeClr val="bg1"/>
                </a:solidFill>
                <a:latin typeface="Cambria" pitchFamily="34" charset="0"/>
                <a:ea typeface="Cambria" pitchFamily="34" charset="-122"/>
                <a:cs typeface="Cambria" pitchFamily="34" charset="-120"/>
              </a:rPr>
              <a:t>CAFN is a cross-attention fusion network for 3D MRI and VEP with a zero-phase conditioning chain, built so that the complete path from files to an optimiser step can be tested before a labelled cohort exists. No diagnostic accuracy is claimed.</a:t>
            </a:r>
            <a:endParaRPr lang="en-US" sz="2000" dirty="0"/>
          </a:p>
        </p:txBody>
      </p:sp>
      <p:sp>
        <p:nvSpPr>
          <p:cNvPr id="16" name="questions pill"/>
          <p:cNvSpPr/>
          <p:nvPr/>
        </p:nvSpPr>
        <p:spPr>
          <a:xfrm>
            <a:off x="548640" y="5303520"/>
            <a:ext cx="3840480" cy="777240"/>
          </a:xfrm>
          <a:prstGeom prst="roundRect">
            <a:avLst>
              <a:gd name="adj" fmla="val 49412"/>
            </a:avLst>
          </a:prstGeom>
          <a:solidFill>
            <a:schemeClr val="accent2"/>
          </a:solidFill>
          <a:ln/>
        </p:spPr>
      </p:sp>
      <p:sp>
        <p:nvSpPr>
          <p:cNvPr id="17" name="Text 15"/>
          <p:cNvSpPr txBox="1"/>
          <p:nvPr/>
        </p:nvSpPr>
        <p:spPr>
          <a:xfrm>
            <a:off x="548640" y="5303520"/>
            <a:ext cx="3840480" cy="77724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Thank you · Questions?</a:t>
            </a:r>
            <a:endParaRPr lang="en-US" sz="2200" dirty="0"/>
          </a:p>
        </p:txBody>
      </p:sp>
      <p:sp>
        <p:nvSpPr>
          <p:cNvPr id="18" name="Text 16"/>
          <p:cNvSpPr txBox="1"/>
          <p:nvPr/>
        </p:nvSpPr>
        <p:spPr>
          <a:xfrm>
            <a:off x="4754880" y="5303520"/>
            <a:ext cx="6888175" cy="777240"/>
          </a:xfrm>
          <a:prstGeom prst="rect">
            <a:avLst/>
          </a:prstGeom>
          <a:noFill/>
          <a:ln/>
        </p:spPr>
        <p:txBody>
          <a:bodyPr wrap="square" lIns="0" tIns="0" rIns="0" bIns="0" rtlCol="0" anchor="ctr"/>
          <a:lstStyle/>
          <a:p>
            <a:pPr indent="0" marL="0">
              <a:buNone/>
            </a:pPr>
            <a:r>
              <a:rPr lang="en-US" sz="1800" dirty="0">
                <a:solidFill>
                  <a:schemeClr val="bg2"/>
                </a:solidFill>
                <a:latin typeface="Calibri" pitchFamily="34" charset="0"/>
                <a:ea typeface="Calibri" pitchFamily="34" charset="-122"/>
                <a:cs typeface="Calibri" pitchFamily="34" charset="-120"/>
              </a:rPr>
              <a:t>Code: github.com/Mishthijainn/NeuroImaging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Selected references</a:t>
            </a:r>
            <a:endParaRPr lang="en-US" sz="3600" dirty="0"/>
          </a:p>
        </p:txBody>
      </p:sp>
      <p:sp>
        <p:nvSpPr>
          <p:cNvPr id="3" name="references card"/>
          <p:cNvSpPr/>
          <p:nvPr/>
        </p:nvSpPr>
        <p:spPr>
          <a:xfrm>
            <a:off x="548640" y="1325880"/>
            <a:ext cx="11094415"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sp>
      <p:sp>
        <p:nvSpPr>
          <p:cNvPr id="4" name="book badge"/>
          <p:cNvSpPr/>
          <p:nvPr/>
        </p:nvSpPr>
        <p:spPr>
          <a:xfrm>
            <a:off x="822960" y="1508760"/>
            <a:ext cx="548640" cy="548640"/>
          </a:xfrm>
          <a:prstGeom prst="ellipse">
            <a:avLst/>
          </a:prstGeom>
          <a:solidFill>
            <a:schemeClr val="accent1"/>
          </a:solidFill>
          <a:ln/>
        </p:spPr>
      </p:sp>
      <p:pic>
        <p:nvPicPr>
          <p:cNvPr id="5" name="book icon" descr="book">    </p:cNvPr>
          <p:cNvPicPr>
            <a:picLocks noChangeAspect="1"/>
          </p:cNvPicPr>
          <p:nvPr/>
        </p:nvPicPr>
        <p:blipFill>
          <a:blip r:embed="rId1"/>
          <a:stretch>
            <a:fillRect/>
          </a:stretch>
        </p:blipFill>
        <p:spPr>
          <a:xfrm>
            <a:off x="960120" y="1645920"/>
            <a:ext cx="274320" cy="274320"/>
          </a:xfrm>
          <a:prstGeom prst="rect">
            <a:avLst/>
          </a:prstGeom>
        </p:spPr>
      </p:pic>
      <p:sp>
        <p:nvSpPr>
          <p:cNvPr id="6" name="Text 3"/>
          <p:cNvSpPr txBox="1"/>
          <p:nvPr/>
        </p:nvSpPr>
        <p:spPr>
          <a:xfrm>
            <a:off x="1554480" y="1508760"/>
            <a:ext cx="9722815" cy="4572000"/>
          </a:xfrm>
          <a:prstGeom prst="rect">
            <a:avLst/>
          </a:prstGeom>
          <a:noFill/>
          <a:ln/>
        </p:spPr>
        <p:txBody>
          <a:bodyPr wrap="square" lIns="0" tIns="0" rIns="0" bIns="0" rtlCol="0" anchor="t"/>
          <a:lstStyle/>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[1]  Tham Y-C. et al., “Global prevalence of glaucoma and projections of glaucoma burden through 2040,” Ophthalmology, 2014.</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[2]  Halliday A.M., McDonald W.I., Mushin J., “Delayed visual evoked response in optic neuritis,” Lancet, 1972.</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[3]  Odom J.V. et al., “ISCEV standard for clinical visual evoked potentials (2016 update),” Doc. Ophthalmol., 2016.</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[4]  He K. et al., “Deep residual learning for image recognition,” CVPR, 2016.</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[5]  Çiçek Ö. et al., “3D U-Net: learning dense volumetric segmentation from sparse annotation,” MICCAI, 2016.</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[6]  Cardoso M.J. et al., “MONAI: an open-source framework for deep learning in healthcare,” arXiv:2211.02701, 2022.</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[7]  Vaswani A. et al., “Attention is all you need,” NeurIPS, 2017.</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[8]  Tsai Y-H.H. et al., “Multimodal transformer for unaligned multimodal language sequences,” ACL, 2019.</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[9]  Selvaraju R.R. et al., “Grad-CAM: visual explanations from deep networks via gradient-based localization,” ICCV, 2017.</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[10]  Jain S., Wallace B.C., “Attention is not explanation,” NAACL-HLT, 2019; Wiegreffe S., Pinter Y., “Attention is not not explanation,” EMNLP-IJCNLP, 2019.</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[11]  Adebayo J. et al., “Sanity checks for saliency maps,” NeurIPS, 2018.</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NeuroFusion">
  <a:themeElements>
    <a:clrScheme name="NeuroFusion">
      <a:dk1>
        <a:srgbClr val="12232B"/>
      </a:dk1>
      <a:lt1>
        <a:srgbClr val="FFFFFF"/>
      </a:lt1>
      <a:dk2>
        <a:srgbClr val="1F4E5F"/>
      </a:dk2>
      <a:lt2>
        <a:srgbClr val="EDF2F3"/>
      </a:lt2>
      <a:accent1>
        <a:srgbClr val="1F6F78"/>
      </a:accent1>
      <a:accent2>
        <a:srgbClr val="E39A2D"/>
      </a:accent2>
      <a:accent3>
        <a:srgbClr val="3B6EA5"/>
      </a:accent3>
      <a:accent4>
        <a:srgbClr val="2E8B6A"/>
      </a:accent4>
      <a:accent5>
        <a:srgbClr val="7A4FA0"/>
      </a:accent5>
      <a:accent6>
        <a:srgbClr val="B5483A"/>
      </a:accent6>
      <a:hlink>
        <a:srgbClr val="1F6F78"/>
      </a:hlink>
      <a:folHlink>
        <a:srgbClr val="7A4FA0"/>
      </a:folHlink>
    </a:clrScheme>
    <a:fontScheme name="NeuroFu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Cross-Attention Fusion of 3D MRI and Visual Evoked Potentials</dc:title>
  <dc:subject>BCSE497J project presentation</dc:subject>
  <dc:creator>Mishthi Jain</dc:creator>
  <cp:lastModifiedBy>Mishthi Jain</cp:lastModifiedBy>
  <cp:revision>1</cp:revision>
  <dcterms:created xsi:type="dcterms:W3CDTF">2026-10-13T08:14:56Z</dcterms:created>
  <dcterms:modified xsi:type="dcterms:W3CDTF">2026-10-13T08:14:56Z</dcterms:modified>
</cp:coreProperties>
</file>